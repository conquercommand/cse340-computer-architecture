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6858000" cx="9144000"/>
  <p:notesSz cx="7099300" cy="10234600"/>
  <p:embeddedFontLst>
    <p:embeddedFont>
      <p:font typeface="Corbel"/>
      <p:regular r:id="rId45"/>
      <p:bold r:id="rId46"/>
      <p:italic r:id="rId47"/>
      <p:boldItalic r:id="rId48"/>
    </p:embeddedFont>
    <p:embeddedFont>
      <p:font typeface="Oi"/>
      <p:regular r:id="rId49"/>
    </p:embeddedFont>
    <p:embeddedFont>
      <p:font typeface="Arial Black"/>
      <p:regular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51F03E-2482-41C7-B5BD-91FECD786E0D}">
  <a:tblStyle styleId="{A651F03E-2482-41C7-B5BD-91FECD786E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font" Target="fonts/Corbel-bold.fntdata"/><Relationship Id="rId45" Type="http://schemas.openxmlformats.org/officeDocument/2006/relationships/font" Target="fonts/Corbel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Corbel-boldItalic.fntdata"/><Relationship Id="rId47" Type="http://schemas.openxmlformats.org/officeDocument/2006/relationships/font" Target="fonts/Corbel-italic.fntdata"/><Relationship Id="rId49" Type="http://schemas.openxmlformats.org/officeDocument/2006/relationships/font" Target="fonts/Oi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0" Type="http://schemas.openxmlformats.org/officeDocument/2006/relationships/font" Target="fonts/ArialBlack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2" name="Google Shape;182;p1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1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1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1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2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p2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2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2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2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1" name="Google Shape;321;p2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2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2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2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7" name="Google Shape;347;p2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2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2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6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26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6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6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6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26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7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27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27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7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7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7" name="Google Shape;397;p27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2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5" name="Google Shape;415;p2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29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9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3" name="Google Shape;433;p29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0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0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30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30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1" name="Google Shape;451;p30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3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3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3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3" name="Google Shape;463;p3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34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34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4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4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3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6" name="Google Shape;476;p3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5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5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5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5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p3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8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48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48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48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48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8" name="Google Shape;498;p48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51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51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51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51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51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9" name="Google Shape;509;p51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5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5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5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5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5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p5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5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5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7" name="Google Shape;557;p5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4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9" name="Google Shape;579;p54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5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55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61:notes"/>
          <p:cNvSpPr txBox="1"/>
          <p:nvPr/>
        </p:nvSpPr>
        <p:spPr>
          <a:xfrm>
            <a:off x="0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61:notes"/>
          <p:cNvSpPr txBox="1"/>
          <p:nvPr/>
        </p:nvSpPr>
        <p:spPr>
          <a:xfrm>
            <a:off x="4022725" y="0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61:notes"/>
          <p:cNvSpPr txBox="1"/>
          <p:nvPr/>
        </p:nvSpPr>
        <p:spPr>
          <a:xfrm>
            <a:off x="0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61:notes"/>
          <p:cNvSpPr txBox="1"/>
          <p:nvPr/>
        </p:nvSpPr>
        <p:spPr>
          <a:xfrm>
            <a:off x="4022725" y="9723437"/>
            <a:ext cx="3076500" cy="51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1:notes"/>
          <p:cNvSpPr/>
          <p:nvPr>
            <p:ph idx="2" type="sldImg"/>
          </p:nvPr>
        </p:nvSpPr>
        <p:spPr>
          <a:xfrm>
            <a:off x="990600" y="768350"/>
            <a:ext cx="5118000" cy="3838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7" name="Google Shape;597;p61:notes"/>
          <p:cNvSpPr txBox="1"/>
          <p:nvPr>
            <p:ph idx="1" type="body"/>
          </p:nvPr>
        </p:nvSpPr>
        <p:spPr>
          <a:xfrm>
            <a:off x="946150" y="4862512"/>
            <a:ext cx="5207100" cy="46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3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63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63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63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63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63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72:notes"/>
          <p:cNvSpPr txBox="1"/>
          <p:nvPr/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Adelaide, School of Computer 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72:notes"/>
          <p:cNvSpPr txBox="1"/>
          <p:nvPr/>
        </p:nvSpPr>
        <p:spPr>
          <a:xfrm>
            <a:off x="4022725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72:notes"/>
          <p:cNvSpPr txBox="1"/>
          <p:nvPr/>
        </p:nvSpPr>
        <p:spPr>
          <a:xfrm>
            <a:off x="0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Chapter 2 — Instructions: Language of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72:notes"/>
          <p:cNvSpPr txBox="1"/>
          <p:nvPr/>
        </p:nvSpPr>
        <p:spPr>
          <a:xfrm>
            <a:off x="4022725" y="9723437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Times New Roman"/>
              <a:buNone/>
            </a:pPr>
            <a:fld id="{00000000-1234-1234-1234-123412341234}" type="slidenum">
              <a:rPr b="0" i="0" lang="en-US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72:notes"/>
          <p:cNvSpPr/>
          <p:nvPr>
            <p:ph idx="2" type="sldImg"/>
          </p:nvPr>
        </p:nvSpPr>
        <p:spPr>
          <a:xfrm>
            <a:off x="990600" y="768350"/>
            <a:ext cx="5118100" cy="3838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9" name="Google Shape;619;p72:notes"/>
          <p:cNvSpPr txBox="1"/>
          <p:nvPr>
            <p:ph idx="1" type="body"/>
          </p:nvPr>
        </p:nvSpPr>
        <p:spPr>
          <a:xfrm>
            <a:off x="946150" y="4862512"/>
            <a:ext cx="5207000" cy="4603750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"/>
          <p:cNvSpPr txBox="1"/>
          <p:nvPr>
            <p:ph idx="1" type="subTitle"/>
          </p:nvPr>
        </p:nvSpPr>
        <p:spPr>
          <a:xfrm>
            <a:off x="2409825" y="2924175"/>
            <a:ext cx="5832475" cy="579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Font typeface="Noto Sans Symbols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 rot="5400000">
            <a:off x="4876007" y="2158206"/>
            <a:ext cx="6091238" cy="20669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 rot="5400000">
            <a:off x="664369" y="165894"/>
            <a:ext cx="6091238" cy="6051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 rot="5400000">
            <a:off x="2263774" y="-454025"/>
            <a:ext cx="5111750" cy="8270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9718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■"/>
              <a:defRPr/>
            </a:lvl1pPr>
            <a:lvl2pPr indent="-291465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Char char="■"/>
              <a:defRPr sz="3200"/>
            </a:lvl1pPr>
            <a:lvl2pPr indent="-32639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540"/>
              <a:buChar char="■"/>
              <a:defRPr sz="2800"/>
            </a:lvl2pPr>
            <a:lvl3pPr indent="-3048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200"/>
              <a:buChar char="■"/>
              <a:defRPr sz="2400"/>
            </a:lvl3pPr>
            <a:lvl4pPr indent="-2984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4pPr>
            <a:lvl5pPr indent="-2921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5pPr>
            <a:lvl6pPr indent="-2921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6pPr>
            <a:lvl7pPr indent="-2921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7pPr>
            <a:lvl8pPr indent="-2921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8pPr>
            <a:lvl9pPr indent="-2921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9pPr>
          </a:lstStyle>
          <a:p/>
        </p:txBody>
      </p:sp>
      <p:sp>
        <p:nvSpPr>
          <p:cNvPr id="59" name="Google Shape;59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6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5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9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450"/>
              <a:buNone/>
              <a:defRPr sz="900"/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6" name="Google Shape;66;p1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7" name="Google Shape;67;p1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b="1" sz="1600"/>
            </a:lvl9pPr>
          </a:lstStyle>
          <a:p/>
        </p:txBody>
      </p:sp>
      <p:sp>
        <p:nvSpPr>
          <p:cNvPr id="68" name="Google Shape;68;p1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Char char="■"/>
              <a:defRPr sz="2400"/>
            </a:lvl1pPr>
            <a:lvl2pPr indent="-2984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100"/>
              <a:buChar char="■"/>
              <a:defRPr sz="2000"/>
            </a:lvl2pPr>
            <a:lvl3pPr indent="-28575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3pPr>
            <a:lvl4pPr indent="-28448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80"/>
              <a:buChar char="■"/>
              <a:defRPr sz="1600"/>
            </a:lvl4pPr>
            <a:lvl5pPr indent="-2794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5pPr>
            <a:lvl6pPr indent="-2794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6pPr>
            <a:lvl7pPr indent="-2794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7pPr>
            <a:lvl8pPr indent="-2794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8pPr>
            <a:lvl9pPr indent="-2794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Char char="■"/>
              <a:defRPr sz="1600"/>
            </a:lvl9pPr>
          </a:lstStyle>
          <a:p/>
        </p:txBody>
      </p:sp>
      <p:sp>
        <p:nvSpPr>
          <p:cNvPr id="69" name="Google Shape;69;p11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>
            <a:off x="684213" y="1125538"/>
            <a:ext cx="405923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4895850" y="1125538"/>
            <a:ext cx="4059238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Char char="■"/>
              <a:defRPr sz="2800"/>
            </a:lvl1pPr>
            <a:lvl2pPr indent="-312419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320"/>
              <a:buChar char="■"/>
              <a:defRPr sz="2400"/>
            </a:lvl2pPr>
            <a:lvl3pPr indent="-2921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000"/>
              <a:buChar char="■"/>
              <a:defRPr sz="2000"/>
            </a:lvl3pPr>
            <a:lvl4pPr indent="-291464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Char char="■"/>
              <a:defRPr sz="1800"/>
            </a:lvl4pPr>
            <a:lvl5pPr indent="-28575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5pPr>
            <a:lvl6pPr indent="-28575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6pPr>
            <a:lvl7pPr indent="-28575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7pPr>
            <a:lvl8pPr indent="-28575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8pPr>
            <a:lvl9pPr indent="-28575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00"/>
              <a:buChar char="■"/>
              <a:defRPr sz="1800"/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99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80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7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700"/>
              <a:buNone/>
              <a:defRPr sz="1400"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0" y="0"/>
            <a:ext cx="9144000" cy="1125537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/>
        </p:nvSpPr>
        <p:spPr>
          <a:xfrm>
            <a:off x="1619250" y="1125537"/>
            <a:ext cx="28575" cy="573246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1981200" y="19875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1763712" y="2708275"/>
            <a:ext cx="7380287" cy="73025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0" y="1125537"/>
            <a:ext cx="9144000" cy="1746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"/>
          <p:cNvSpPr txBox="1"/>
          <p:nvPr/>
        </p:nvSpPr>
        <p:spPr>
          <a:xfrm>
            <a:off x="1619250" y="549275"/>
            <a:ext cx="28575" cy="5762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 (2).png" id="16" name="Google Shape;1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250825" y="261937"/>
            <a:ext cx="1155700" cy="64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1"/>
          <p:cNvGrpSpPr/>
          <p:nvPr/>
        </p:nvGrpSpPr>
        <p:grpSpPr>
          <a:xfrm>
            <a:off x="1774825" y="104775"/>
            <a:ext cx="6084887" cy="868362"/>
            <a:chOff x="1774113" y="104757"/>
            <a:chExt cx="6084936" cy="868541"/>
          </a:xfrm>
        </p:grpSpPr>
        <p:sp>
          <p:nvSpPr>
            <p:cNvPr id="18" name="Google Shape;18;p1"/>
            <p:cNvSpPr txBox="1"/>
            <p:nvPr/>
          </p:nvSpPr>
          <p:spPr>
            <a:xfrm>
              <a:off x="1774113" y="104757"/>
              <a:ext cx="6084936" cy="554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Font typeface="Corbel"/>
                <a:buNone/>
              </a:pPr>
              <a:r>
                <a:rPr b="1" i="0" lang="en-US" sz="30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COMPUTER ORGANIZATION AND DESIGN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 txBox="1"/>
            <p:nvPr/>
          </p:nvSpPr>
          <p:spPr>
            <a:xfrm>
              <a:off x="2844096" y="573166"/>
              <a:ext cx="3957669" cy="4001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The Hardware/Software Interface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1"/>
          <p:cNvGrpSpPr/>
          <p:nvPr/>
        </p:nvGrpSpPr>
        <p:grpSpPr>
          <a:xfrm>
            <a:off x="7999412" y="82550"/>
            <a:ext cx="936625" cy="935037"/>
            <a:chOff x="7999413" y="82550"/>
            <a:chExt cx="936625" cy="935038"/>
          </a:xfrm>
        </p:grpSpPr>
        <p:sp>
          <p:nvSpPr>
            <p:cNvPr id="21" name="Google Shape;21;p1"/>
            <p:cNvSpPr/>
            <p:nvPr/>
          </p:nvSpPr>
          <p:spPr>
            <a:xfrm>
              <a:off x="7999413" y="82550"/>
              <a:ext cx="936625" cy="935038"/>
            </a:xfrm>
            <a:prstGeom prst="star32">
              <a:avLst>
                <a:gd fmla="val 37500" name="adj"/>
              </a:avLst>
            </a:prstGeom>
            <a:solidFill>
              <a:srgbClr val="C00000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 txBox="1"/>
            <p:nvPr/>
          </p:nvSpPr>
          <p:spPr>
            <a:xfrm>
              <a:off x="8012113" y="293688"/>
              <a:ext cx="917575" cy="6143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 Black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 Black"/>
                  <a:ea typeface="Arial Black"/>
                  <a:cs typeface="Arial Black"/>
                  <a:sym typeface="Arial Black"/>
                </a:rPr>
                <a:t>RISC-V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  <p:sp>
          <p:nvSpPr>
            <p:cNvPr id="23" name="Google Shape;23;p1"/>
            <p:cNvSpPr txBox="1"/>
            <p:nvPr/>
          </p:nvSpPr>
          <p:spPr>
            <a:xfrm>
              <a:off x="8107363" y="482600"/>
              <a:ext cx="733425" cy="307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r>
                <a:rPr b="0" baseline="3000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nd</a:t>
              </a:r>
              <a:r>
                <a:rPr b="0" i="0" lang="en-US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 ed.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" name="Google Shape;24;p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"/>
          <p:cNvSpPr txBox="1"/>
          <p:nvPr/>
        </p:nvSpPr>
        <p:spPr>
          <a:xfrm>
            <a:off x="468312" y="260350"/>
            <a:ext cx="36512" cy="3816350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052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639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21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21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21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21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21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11" type="ftr"/>
          </p:nvPr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3"/>
          <p:cNvSpPr txBox="1"/>
          <p:nvPr/>
        </p:nvSpPr>
        <p:spPr>
          <a:xfrm>
            <a:off x="250825" y="981075"/>
            <a:ext cx="8569325" cy="71437"/>
          </a:xfrm>
          <a:prstGeom prst="rect">
            <a:avLst/>
          </a:prstGeom>
          <a:gradFill>
            <a:gsLst>
              <a:gs pos="0">
                <a:schemeClr val="dk2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MK Logo.jpg" id="35" name="Google Shape;35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6270625"/>
            <a:ext cx="1619250" cy="5905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ctrTitle"/>
          </p:nvPr>
        </p:nvSpPr>
        <p:spPr>
          <a:xfrm>
            <a:off x="2409825" y="1844675"/>
            <a:ext cx="5832475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 Black"/>
              <a:buNone/>
            </a:pPr>
            <a:r>
              <a:rPr b="1" i="0" lang="en-US" sz="4400" u="none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Chapter 2</a:t>
            </a:r>
            <a:endParaRPr/>
          </a:p>
        </p:txBody>
      </p:sp>
      <p:sp>
        <p:nvSpPr>
          <p:cNvPr id="88" name="Google Shape;88;p14"/>
          <p:cNvSpPr txBox="1"/>
          <p:nvPr>
            <p:ph idx="1" type="subTitle"/>
          </p:nvPr>
        </p:nvSpPr>
        <p:spPr>
          <a:xfrm>
            <a:off x="2409825" y="2924175"/>
            <a:ext cx="583247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Instructions: Language of the Computer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Set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repertoire of instructions of a computer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computers have different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But with many aspects in common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Early computers had very simple instruction sets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Simplified implementation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Many modern computers also have simple instruction sets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 rot="5400000">
            <a:off x="8017668" y="759618"/>
            <a:ext cx="1885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 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RISC-V Instruction Set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as the example throughout the book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at UC Berkeley as open ISA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Now managed by the RISC-V Foundation (</a:t>
            </a:r>
            <a:r>
              <a:rPr b="0" i="0" lang="en-US" sz="2800" u="sng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riscv.org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Typical of many modern ISAs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RISC-V Reference Data tear-out card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ISAs have a large share of embedded core market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in consumer electronics, network/storage equipment, cameras, printers, …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Operations</a:t>
            </a:r>
            <a:endParaRPr/>
          </a:p>
        </p:txBody>
      </p:sp>
      <p:sp>
        <p:nvSpPr>
          <p:cNvPr id="122" name="Google Shape;122;p1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and subtract, three operands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sources and one destination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920"/>
              <a:buNone/>
            </a:pPr>
            <a:r>
              <a:rPr b="0" i="0" lang="en-US" sz="3200" u="none">
                <a:solidFill>
                  <a:schemeClr val="dk1"/>
                </a:solidFill>
                <a:latin typeface="Oi"/>
                <a:ea typeface="Oi"/>
                <a:cs typeface="Oi"/>
                <a:sym typeface="Oi"/>
              </a:rPr>
              <a:t>	      </a:t>
            </a:r>
            <a:r>
              <a:rPr i="0" lang="en-US" sz="3200" u="none">
                <a:solidFill>
                  <a:schemeClr val="dk1"/>
                </a:solidFill>
              </a:rPr>
              <a:t>add a, b, c  // a gets b + c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arithmetic operations have this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1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1: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Simplicity favors regularity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 makes implementation simpler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Simplicity enables higher performance at lower cost</a:t>
            </a:r>
            <a:endParaRPr/>
          </a:p>
        </p:txBody>
      </p:sp>
      <p:sp>
        <p:nvSpPr>
          <p:cNvPr id="123" name="Google Shape;123;p17"/>
          <p:cNvSpPr txBox="1"/>
          <p:nvPr/>
        </p:nvSpPr>
        <p:spPr>
          <a:xfrm rot="5400000">
            <a:off x="6677818" y="2099468"/>
            <a:ext cx="45656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 Operations of the Computer 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Arithmetic Example</a:t>
            </a:r>
            <a:endParaRPr/>
          </a:p>
        </p:txBody>
      </p:sp>
      <p:sp>
        <p:nvSpPr>
          <p:cNvPr id="134" name="Google Shape;134;p1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f = (g + h) - (i + j);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add t0, g, h   // temp t0 = g + h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add t1, i, j     // temp t1 = i + j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add f, t0, t1  // f = t0 - t1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Operands</a:t>
            </a:r>
            <a:endParaRPr/>
          </a:p>
        </p:txBody>
      </p:sp>
      <p:sp>
        <p:nvSpPr>
          <p:cNvPr id="145" name="Google Shape;145;p19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Arithmetic instructions use register</a:t>
            </a:r>
            <a:b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operands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has a 32 × 64-bit register file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for frequently accessed data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64-bit data is called a “doubleword”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 x 64-bit general purpose registers x0 to x31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32-bit data is called a “word”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1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2: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main memory: millions of locations</a:t>
            </a:r>
            <a:endParaRPr/>
          </a:p>
        </p:txBody>
      </p:sp>
      <p:sp>
        <p:nvSpPr>
          <p:cNvPr id="146" name="Google Shape;146;p19"/>
          <p:cNvSpPr txBox="1"/>
          <p:nvPr/>
        </p:nvSpPr>
        <p:spPr>
          <a:xfrm rot="5400000">
            <a:off x="6734968" y="2042318"/>
            <a:ext cx="44513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§2.3 Operands of the Computer Hardware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Registers</a:t>
            </a:r>
            <a:endParaRPr/>
          </a:p>
        </p:txBody>
      </p:sp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x0: the constant value 0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x1: return address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x2: stack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x3: global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x4: thread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x5 – x7, x28 – x31: temporaries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x8: frame pointer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x9, x18 – x27: saved registers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 – x11: function arguments/results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 – x17: function arguments</a:t>
            </a:r>
            <a:endParaRPr/>
          </a:p>
        </p:txBody>
      </p:sp>
      <p:sp>
        <p:nvSpPr>
          <p:cNvPr id="153" name="Google Shape;153;p2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 Operand Example</a:t>
            </a:r>
            <a:endParaRPr/>
          </a:p>
        </p:txBody>
      </p:sp>
      <p:sp>
        <p:nvSpPr>
          <p:cNvPr id="164" name="Google Shape;164;p2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f = (g + h) - (i + j);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f, …, j in x19, x20, …, x23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add x5, x20, x21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add x6, x22, x23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sub x19, x5, x6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Operands</a:t>
            </a:r>
            <a:endParaRPr/>
          </a:p>
        </p:txBody>
      </p:sp>
      <p:sp>
        <p:nvSpPr>
          <p:cNvPr id="175" name="Google Shape;175;p2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memory used for composite data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Arrays, structures, dynamic data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apply arithmetic operations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Load values from memory into registers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Store result from register to memory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 is byte addressed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address identifies an 8-bit byte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is Little Endian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Least-significant byte at least address of a word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Big Endian: most-significant byte at least address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does not require words to be aligned in memory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Unlike some other ISAs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Memory Operand Example</a:t>
            </a:r>
            <a:endParaRPr/>
          </a:p>
        </p:txBody>
      </p:sp>
      <p:sp>
        <p:nvSpPr>
          <p:cNvPr id="186" name="Google Shape;186;p23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A[12] = h + A[8];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h in x21, base address of A in x22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Compiled RISC-V code: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Index 8 requires offset of 64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8 bytes per doubleword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rPr i="0" lang="en-US" sz="2400" u="none">
                <a:solidFill>
                  <a:schemeClr val="dk1"/>
                </a:solidFill>
              </a:rPr>
              <a:t>	ld		x9, 64(x22)</a:t>
            </a:r>
            <a:br>
              <a:rPr i="0" lang="en-US" sz="2400" u="none">
                <a:solidFill>
                  <a:schemeClr val="dk1"/>
                </a:solidFill>
              </a:rPr>
            </a:br>
            <a:r>
              <a:rPr i="0" lang="en-US" sz="2400" u="none">
                <a:solidFill>
                  <a:schemeClr val="dk1"/>
                </a:solidFill>
              </a:rPr>
              <a:t>add		x9, x21, x9</a:t>
            </a:r>
            <a:br>
              <a:rPr i="0" lang="en-US" sz="2400" u="none">
                <a:solidFill>
                  <a:schemeClr val="dk1"/>
                </a:solidFill>
              </a:rPr>
            </a:br>
            <a:r>
              <a:rPr i="0" lang="en-US" sz="2400" u="none">
                <a:solidFill>
                  <a:schemeClr val="dk1"/>
                </a:solidFill>
              </a:rPr>
              <a:t>sd		x9, 96(x22)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Registers vs. Memory</a:t>
            </a:r>
            <a:endParaRPr/>
          </a:p>
        </p:txBody>
      </p:sp>
      <p:sp>
        <p:nvSpPr>
          <p:cNvPr id="197" name="Google Shape;197;p24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Registers are faster to access than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Operating on memory data requires loads and stores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instructions to be executed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must use registers for variables as much as possible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Only spill to memory for less frequently used variables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Register optimization is important!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Immediate Operands</a:t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Constant data specified in an instruction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addi x22, x22, 4</a:t>
            </a:r>
            <a:endParaRPr/>
          </a:p>
          <a:p>
            <a:pPr indent="-22098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None/>
            </a:pPr>
            <a:r>
              <a:t/>
            </a:r>
            <a:endParaRPr i="0" sz="32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Make the common case fast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Small constants are common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Immediate operand avoids a load instruction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 Extension</a:t>
            </a:r>
            <a:endParaRPr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Representing a number using more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Preserve the numeric value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Replicate the sign bit to the left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c.f. unsigned values: extend with 0s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Examples: 8-bit to 16-bit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+2: </a:t>
            </a:r>
            <a:r>
              <a:rPr i="0" lang="en-US" sz="2400" u="none">
                <a:solidFill>
                  <a:schemeClr val="hlink"/>
                </a:solidFill>
              </a:rPr>
              <a:t>0</a:t>
            </a:r>
            <a:r>
              <a:rPr i="0" lang="en-US" sz="2400" u="none">
                <a:solidFill>
                  <a:schemeClr val="dk1"/>
                </a:solidFill>
              </a:rPr>
              <a:t>000 0010 =&gt; </a:t>
            </a:r>
            <a:r>
              <a:rPr i="0" lang="en-US" sz="2400" u="none">
                <a:solidFill>
                  <a:schemeClr val="hlink"/>
                </a:solidFill>
              </a:rPr>
              <a:t>0000 0000</a:t>
            </a:r>
            <a:r>
              <a:rPr i="0" lang="en-US" sz="2400" u="none">
                <a:solidFill>
                  <a:schemeClr val="dk1"/>
                </a:solidFill>
              </a:rPr>
              <a:t> </a:t>
            </a:r>
            <a:r>
              <a:rPr i="0" lang="en-US" sz="2400" u="none">
                <a:solidFill>
                  <a:schemeClr val="hlink"/>
                </a:solidFill>
              </a:rPr>
              <a:t>0</a:t>
            </a:r>
            <a:r>
              <a:rPr i="0" lang="en-US" sz="2400" u="none">
                <a:solidFill>
                  <a:schemeClr val="dk1"/>
                </a:solidFill>
              </a:rPr>
              <a:t>000 0010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–2: </a:t>
            </a:r>
            <a:r>
              <a:rPr i="0" lang="en-US" sz="2400" u="none">
                <a:solidFill>
                  <a:schemeClr val="hlink"/>
                </a:solidFill>
              </a:rPr>
              <a:t>1</a:t>
            </a:r>
            <a:r>
              <a:rPr i="0" lang="en-US" sz="2400" u="none">
                <a:solidFill>
                  <a:schemeClr val="dk1"/>
                </a:solidFill>
              </a:rPr>
              <a:t>111 1110 =&gt; </a:t>
            </a:r>
            <a:r>
              <a:rPr i="0" lang="en-US" sz="2400" u="none">
                <a:solidFill>
                  <a:schemeClr val="hlink"/>
                </a:solidFill>
              </a:rPr>
              <a:t>1111 1111</a:t>
            </a:r>
            <a:r>
              <a:rPr i="0" lang="en-US" sz="2400" u="none">
                <a:solidFill>
                  <a:schemeClr val="dk1"/>
                </a:solidFill>
              </a:rPr>
              <a:t> </a:t>
            </a:r>
            <a:r>
              <a:rPr i="0" lang="en-US" sz="2400" u="none">
                <a:solidFill>
                  <a:schemeClr val="hlink"/>
                </a:solidFill>
              </a:rPr>
              <a:t>1</a:t>
            </a:r>
            <a:r>
              <a:rPr i="0" lang="en-US" sz="2400" u="none">
                <a:solidFill>
                  <a:schemeClr val="dk1"/>
                </a:solidFill>
              </a:rPr>
              <a:t>111 1110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In RISC-V instruction set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lb:  sign-extend loaded byte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lbu: zero-extend loaded byte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Representing Instructions</a:t>
            </a:r>
            <a:endParaRPr/>
          </a:p>
        </p:txBody>
      </p:sp>
      <p:sp>
        <p:nvSpPr>
          <p:cNvPr id="230" name="Google Shape;230;p27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are encoded in binary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Called machine code</a:t>
            </a:r>
            <a:endParaRPr/>
          </a:p>
          <a:p>
            <a:pPr indent="-20193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 instructions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Encoded as 32-bit instruction words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Small number of formats encoding operation code (opcode), register numbers, …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Regularity!</a:t>
            </a:r>
            <a:endParaRPr/>
          </a:p>
        </p:txBody>
      </p:sp>
      <p:sp>
        <p:nvSpPr>
          <p:cNvPr id="231" name="Google Shape;231;p27"/>
          <p:cNvSpPr txBox="1"/>
          <p:nvPr/>
        </p:nvSpPr>
        <p:spPr>
          <a:xfrm rot="5400000">
            <a:off x="6474618" y="2302668"/>
            <a:ext cx="49720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§2.5 Representing Instructions in the Computer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R-format Instructions</a:t>
            </a:r>
            <a:endParaRPr/>
          </a:p>
        </p:txBody>
      </p:sp>
      <p:sp>
        <p:nvSpPr>
          <p:cNvPr id="242" name="Google Shape;242;p28"/>
          <p:cNvSpPr txBox="1"/>
          <p:nvPr>
            <p:ph idx="1" type="body"/>
          </p:nvPr>
        </p:nvSpPr>
        <p:spPr>
          <a:xfrm>
            <a:off x="684212" y="2276475"/>
            <a:ext cx="8270875" cy="3960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fields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opcode: operation code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rd: destination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funct3: 3-bit function code (additional opcode)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the first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the second source register number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funct7: 7-bit function code (additional opcode)</a:t>
            </a:r>
            <a:endParaRPr/>
          </a:p>
          <a:p>
            <a:pPr indent="-187959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" name="Google Shape;243;p28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244" name="Google Shape;244;p28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8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8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8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28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28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28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8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8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8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8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8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R-format Example</a:t>
            </a:r>
            <a:endParaRPr/>
          </a:p>
        </p:txBody>
      </p:sp>
      <p:sp>
        <p:nvSpPr>
          <p:cNvPr id="266" name="Google Shape;266;p29"/>
          <p:cNvSpPr txBox="1"/>
          <p:nvPr>
            <p:ph idx="1" type="body"/>
          </p:nvPr>
        </p:nvSpPr>
        <p:spPr>
          <a:xfrm>
            <a:off x="684212" y="2492375"/>
            <a:ext cx="8270875" cy="649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</a:pPr>
            <a:r>
              <a:rPr i="0" lang="en-US" sz="3200" u="none">
                <a:solidFill>
                  <a:schemeClr val="dk1"/>
                </a:solidFill>
              </a:rPr>
              <a:t>	add x9,x20,x21</a:t>
            </a:r>
            <a:endParaRPr/>
          </a:p>
        </p:txBody>
      </p:sp>
      <p:sp>
        <p:nvSpPr>
          <p:cNvPr id="267" name="Google Shape;267;p29"/>
          <p:cNvSpPr txBox="1"/>
          <p:nvPr/>
        </p:nvSpPr>
        <p:spPr>
          <a:xfrm>
            <a:off x="696912" y="4583112"/>
            <a:ext cx="7259637" cy="1417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0000 0001 0101 1010 0000 0100 1011 0011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</a:t>
            </a: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015A04B3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8" name="Google Shape;268;p29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269" name="Google Shape;269;p29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9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9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9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9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9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9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9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9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9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9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9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1" name="Google Shape;281;p29"/>
          <p:cNvSpPr txBox="1"/>
          <p:nvPr/>
        </p:nvSpPr>
        <p:spPr>
          <a:xfrm>
            <a:off x="1331912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9"/>
          <p:cNvSpPr txBox="1"/>
          <p:nvPr/>
        </p:nvSpPr>
        <p:spPr>
          <a:xfrm>
            <a:off x="26289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37084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9"/>
          <p:cNvSpPr txBox="1"/>
          <p:nvPr/>
        </p:nvSpPr>
        <p:spPr>
          <a:xfrm>
            <a:off x="5727700" y="322421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9"/>
          <p:cNvSpPr txBox="1"/>
          <p:nvPr/>
        </p:nvSpPr>
        <p:spPr>
          <a:xfrm>
            <a:off x="4789487" y="322421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9"/>
          <p:cNvSpPr txBox="1"/>
          <p:nvPr/>
        </p:nvSpPr>
        <p:spPr>
          <a:xfrm>
            <a:off x="6807200" y="322421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9"/>
          <p:cNvSpPr txBox="1"/>
          <p:nvPr/>
        </p:nvSpPr>
        <p:spPr>
          <a:xfrm>
            <a:off x="1331912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9"/>
          <p:cNvSpPr txBox="1"/>
          <p:nvPr/>
        </p:nvSpPr>
        <p:spPr>
          <a:xfrm>
            <a:off x="26289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 txBox="1"/>
          <p:nvPr/>
        </p:nvSpPr>
        <p:spPr>
          <a:xfrm>
            <a:off x="37084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10100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5727700" y="388778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4789487" y="388778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9"/>
          <p:cNvSpPr txBox="1"/>
          <p:nvPr/>
        </p:nvSpPr>
        <p:spPr>
          <a:xfrm>
            <a:off x="6807200" y="388778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0110011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I-format Instructions</a:t>
            </a:r>
            <a:endParaRPr/>
          </a:p>
        </p:txBody>
      </p:sp>
      <p:sp>
        <p:nvSpPr>
          <p:cNvPr id="303" name="Google Shape;303;p30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 arithmetic and load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source or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constant operand, or offset added to base address</a:t>
            </a:r>
            <a:endParaRPr b="0" i="0" sz="16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2s-complement, sign extended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1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 3:</a:t>
            </a: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Good design demands good compromises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formats complicate decoding, but allow 32-bit instructions uniformly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Keep formats as similar as possible</a:t>
            </a:r>
            <a:endParaRPr/>
          </a:p>
        </p:txBody>
      </p:sp>
      <p:grpSp>
        <p:nvGrpSpPr>
          <p:cNvPr id="304" name="Google Shape;304;p30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05" name="Google Shape;305;p30"/>
            <p:cNvSpPr txBox="1"/>
            <p:nvPr/>
          </p:nvSpPr>
          <p:spPr>
            <a:xfrm>
              <a:off x="1331640" y="1391533"/>
              <a:ext cx="2374899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immediate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0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0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 txBox="1"/>
            <p:nvPr/>
          </p:nvSpPr>
          <p:spPr>
            <a:xfrm>
              <a:off x="2078304" y="1828096"/>
              <a:ext cx="78899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12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30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S-format Instructions</a:t>
            </a:r>
            <a:endParaRPr/>
          </a:p>
        </p:txBody>
      </p:sp>
      <p:sp>
        <p:nvSpPr>
          <p:cNvPr id="325" name="Google Shape;325;p31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immediate format for store instructions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rs1: base address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rs2: source operand register number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immediate: offset added to base address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Noto Sans Symbols"/>
              <a:buChar char="■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Split so that rs1 and rs2 fields always in the same place</a:t>
            </a:r>
            <a:endParaRPr/>
          </a:p>
        </p:txBody>
      </p:sp>
      <p:grpSp>
        <p:nvGrpSpPr>
          <p:cNvPr id="326" name="Google Shape;326;p31"/>
          <p:cNvGrpSpPr/>
          <p:nvPr/>
        </p:nvGrpSpPr>
        <p:grpSpPr>
          <a:xfrm>
            <a:off x="1331912" y="1392237"/>
            <a:ext cx="6772275" cy="776287"/>
            <a:chOff x="1331640" y="1391533"/>
            <a:chExt cx="6771978" cy="777698"/>
          </a:xfrm>
        </p:grpSpPr>
        <p:sp>
          <p:nvSpPr>
            <p:cNvPr id="327" name="Google Shape;327;p31"/>
            <p:cNvSpPr txBox="1"/>
            <p:nvPr/>
          </p:nvSpPr>
          <p:spPr>
            <a:xfrm>
              <a:off x="1331640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31"/>
            <p:cNvSpPr txBox="1"/>
            <p:nvPr/>
          </p:nvSpPr>
          <p:spPr>
            <a:xfrm>
              <a:off x="26286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1"/>
            <p:cNvSpPr txBox="1"/>
            <p:nvPr/>
          </p:nvSpPr>
          <p:spPr>
            <a:xfrm>
              <a:off x="3708127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rs1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1"/>
            <p:cNvSpPr txBox="1"/>
            <p:nvPr/>
          </p:nvSpPr>
          <p:spPr>
            <a:xfrm>
              <a:off x="5727131" y="1391533"/>
              <a:ext cx="1079500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1"/>
            <p:cNvSpPr txBox="1"/>
            <p:nvPr/>
          </p:nvSpPr>
          <p:spPr>
            <a:xfrm>
              <a:off x="4789215" y="1391533"/>
              <a:ext cx="936328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funct3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1"/>
            <p:cNvSpPr txBox="1"/>
            <p:nvPr/>
          </p:nvSpPr>
          <p:spPr>
            <a:xfrm>
              <a:off x="6806631" y="1391533"/>
              <a:ext cx="1296987" cy="415925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opcode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1"/>
            <p:cNvSpPr txBox="1"/>
            <p:nvPr/>
          </p:nvSpPr>
          <p:spPr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31"/>
            <p:cNvSpPr txBox="1"/>
            <p:nvPr/>
          </p:nvSpPr>
          <p:spPr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31"/>
            <p:cNvSpPr txBox="1"/>
            <p:nvPr/>
          </p:nvSpPr>
          <p:spPr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1"/>
            <p:cNvSpPr txBox="1"/>
            <p:nvPr/>
          </p:nvSpPr>
          <p:spPr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1"/>
            <p:cNvSpPr txBox="1"/>
            <p:nvPr/>
          </p:nvSpPr>
          <p:spPr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1"/>
            <p:cNvSpPr txBox="1"/>
            <p:nvPr/>
          </p:nvSpPr>
          <p:spPr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bits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9" name="Google Shape;339;p31"/>
          <p:cNvSpPr txBox="1"/>
          <p:nvPr/>
        </p:nvSpPr>
        <p:spPr>
          <a:xfrm>
            <a:off x="1389062" y="1414462"/>
            <a:ext cx="11811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imm[11:5]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5735637" y="1414462"/>
            <a:ext cx="106997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imm[4:0]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2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Stored Program Computers</a:t>
            </a:r>
            <a:endParaRPr/>
          </a:p>
        </p:txBody>
      </p:sp>
      <p:sp>
        <p:nvSpPr>
          <p:cNvPr id="351" name="Google Shape;351;p32"/>
          <p:cNvSpPr txBox="1"/>
          <p:nvPr>
            <p:ph idx="1" type="body"/>
          </p:nvPr>
        </p:nvSpPr>
        <p:spPr>
          <a:xfrm>
            <a:off x="3708400" y="1125537"/>
            <a:ext cx="52466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represented in binary, just like data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and data stored in memory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Programs can operate on programs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e.g., compilers, linkers,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Binary compatibility allows compiled programs to work on different computers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Standardized ISAs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684212" y="1258887"/>
            <a:ext cx="282575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2400"/>
              <a:buFont typeface="Arial Black"/>
              <a:buNone/>
            </a:pPr>
            <a:r>
              <a:rPr b="1" i="0" lang="en-US" sz="2400" u="none" cap="none" strike="noStrike">
                <a:solidFill>
                  <a:schemeClr val="folHlink"/>
                </a:solidFill>
                <a:latin typeface="Arial Black"/>
                <a:ea typeface="Arial Black"/>
                <a:cs typeface="Arial Black"/>
                <a:sym typeface="Arial Black"/>
              </a:rPr>
              <a:t>The BIG Picture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2-07-P374493" id="353" name="Google Shape;35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187" y="2060575"/>
            <a:ext cx="2908300" cy="3846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3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Logical Operations</a:t>
            </a:r>
            <a:endParaRPr/>
          </a:p>
        </p:txBody>
      </p:sp>
      <p:sp>
        <p:nvSpPr>
          <p:cNvPr id="364" name="Google Shape;364;p33"/>
          <p:cNvSpPr txBox="1"/>
          <p:nvPr>
            <p:ph idx="1" type="body"/>
          </p:nvPr>
        </p:nvSpPr>
        <p:spPr>
          <a:xfrm>
            <a:off x="684212" y="1125537"/>
            <a:ext cx="8270875" cy="690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Instructions for bitwise manipulation</a:t>
            </a:r>
            <a:endParaRPr/>
          </a:p>
        </p:txBody>
      </p:sp>
      <p:graphicFrame>
        <p:nvGraphicFramePr>
          <p:cNvPr id="365" name="Google Shape;365;p33"/>
          <p:cNvGraphicFramePr/>
          <p:nvPr/>
        </p:nvGraphicFramePr>
        <p:xfrm>
          <a:off x="1042987" y="17732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{A651F03E-2482-41C7-B5BD-91FECD786E0D}</a:tableStyleId>
              </a:tblPr>
              <a:tblGrid>
                <a:gridCol w="2233600"/>
                <a:gridCol w="1366825"/>
                <a:gridCol w="1512875"/>
                <a:gridCol w="2087550"/>
              </a:tblGrid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Operation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Java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RISC-V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left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&lt;&lt;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Oi"/>
                        <a:buNone/>
                      </a:pPr>
                      <a:r>
                        <a:rPr i="0" lang="en-US" sz="2400" u="none" cap="none" strike="noStrike">
                          <a:solidFill>
                            <a:schemeClr val="dk1"/>
                          </a:solidFill>
                        </a:rPr>
                        <a:t>slli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Shift right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&gt;&gt;&gt;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Oi"/>
                        <a:buNone/>
                      </a:pPr>
                      <a:r>
                        <a:rPr i="0" lang="en-US" sz="2400" u="none" cap="none" strike="noStrike">
                          <a:solidFill>
                            <a:schemeClr val="dk1"/>
                          </a:solidFill>
                        </a:rPr>
                        <a:t>srli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AND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Oi"/>
                        <a:buNone/>
                      </a:pPr>
                      <a:r>
                        <a:rPr i="0" lang="en-US" sz="2400" u="none" cap="none" strike="noStrike">
                          <a:solidFill>
                            <a:schemeClr val="dk1"/>
                          </a:solidFill>
                        </a:rPr>
                        <a:t>and, andi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|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Oi"/>
                        <a:buNone/>
                      </a:pPr>
                      <a:r>
                        <a:rPr i="0" lang="en-US" sz="2400" u="none" cap="none" strike="noStrike">
                          <a:solidFill>
                            <a:schemeClr val="dk1"/>
                          </a:solidFill>
                        </a:rPr>
                        <a:t>or, ori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XOR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^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Oi"/>
                        <a:buNone/>
                      </a:pPr>
                      <a:r>
                        <a:rPr i="0" lang="en-US" sz="2400" u="none" cap="none" strike="noStrike">
                          <a:solidFill>
                            <a:schemeClr val="dk1"/>
                          </a:solidFill>
                        </a:rPr>
                        <a:t>xor, xori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Bit-by-bit NOT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~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vMerge="1"/>
              </a:tr>
            </a:tbl>
          </a:graphicData>
        </a:graphic>
      </p:graphicFrame>
      <p:sp>
        <p:nvSpPr>
          <p:cNvPr id="366" name="Google Shape;366;p33"/>
          <p:cNvSpPr txBox="1"/>
          <p:nvPr/>
        </p:nvSpPr>
        <p:spPr>
          <a:xfrm>
            <a:off x="684212" y="5157787"/>
            <a:ext cx="7772400" cy="935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for extracting and inserting groups of bits in a word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 rot="5400000">
            <a:off x="7662068" y="1115218"/>
            <a:ext cx="25971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§2.6 Logical Operations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Shift Operations</a:t>
            </a:r>
            <a:endParaRPr/>
          </a:p>
        </p:txBody>
      </p:sp>
      <p:sp>
        <p:nvSpPr>
          <p:cNvPr id="378" name="Google Shape;378;p34"/>
          <p:cNvSpPr txBox="1"/>
          <p:nvPr>
            <p:ph idx="1" type="body"/>
          </p:nvPr>
        </p:nvSpPr>
        <p:spPr>
          <a:xfrm>
            <a:off x="684212" y="2349500"/>
            <a:ext cx="8270875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immed: how many positions to shift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Shift left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Shift left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slli by </a:t>
            </a:r>
            <a:r>
              <a:rPr i="1" lang="en-US" sz="2800" u="none">
                <a:solidFill>
                  <a:schemeClr val="dk1"/>
                </a:solidFill>
              </a:rPr>
              <a:t>i</a:t>
            </a:r>
            <a:r>
              <a:rPr i="0" lang="en-US" sz="2800" u="none">
                <a:solidFill>
                  <a:schemeClr val="dk1"/>
                </a:solidFill>
              </a:rPr>
              <a:t> bits multiplies by 2</a:t>
            </a:r>
            <a:r>
              <a:rPr baseline="30000" i="1" lang="en-US" sz="2800" u="none">
                <a:solidFill>
                  <a:schemeClr val="dk1"/>
                </a:solidFill>
              </a:rPr>
              <a:t>i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Shift right logical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Shift right and fill with 0 bits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srli by </a:t>
            </a:r>
            <a:r>
              <a:rPr i="1" lang="en-US" sz="2800" u="none">
                <a:solidFill>
                  <a:schemeClr val="dk1"/>
                </a:solidFill>
              </a:rPr>
              <a:t>i</a:t>
            </a:r>
            <a:r>
              <a:rPr i="0" lang="en-US" sz="2800" u="none">
                <a:solidFill>
                  <a:schemeClr val="dk1"/>
                </a:solidFill>
              </a:rPr>
              <a:t> bits divides by 2</a:t>
            </a:r>
            <a:r>
              <a:rPr baseline="30000" i="1" lang="en-US" sz="2800" u="none">
                <a:solidFill>
                  <a:schemeClr val="dk1"/>
                </a:solidFill>
              </a:rPr>
              <a:t>i</a:t>
            </a:r>
            <a:r>
              <a:rPr i="0" lang="en-US" sz="2800" u="none">
                <a:solidFill>
                  <a:schemeClr val="dk1"/>
                </a:solidFill>
              </a:rPr>
              <a:t> (unsigned only)</a:t>
            </a:r>
            <a:endParaRPr/>
          </a:p>
        </p:txBody>
      </p:sp>
      <p:sp>
        <p:nvSpPr>
          <p:cNvPr id="379" name="Google Shape;379;p34"/>
          <p:cNvSpPr txBox="1"/>
          <p:nvPr/>
        </p:nvSpPr>
        <p:spPr>
          <a:xfrm>
            <a:off x="37084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4"/>
          <p:cNvSpPr txBox="1"/>
          <p:nvPr/>
        </p:nvSpPr>
        <p:spPr>
          <a:xfrm>
            <a:off x="5727700" y="1389062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4"/>
          <p:cNvSpPr txBox="1"/>
          <p:nvPr/>
        </p:nvSpPr>
        <p:spPr>
          <a:xfrm>
            <a:off x="4789487" y="1389062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4"/>
          <p:cNvSpPr txBox="1"/>
          <p:nvPr/>
        </p:nvSpPr>
        <p:spPr>
          <a:xfrm>
            <a:off x="6807200" y="1389062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34"/>
          <p:cNvSpPr txBox="1"/>
          <p:nvPr/>
        </p:nvSpPr>
        <p:spPr>
          <a:xfrm>
            <a:off x="1665287" y="1828800"/>
            <a:ext cx="676275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34"/>
          <p:cNvSpPr txBox="1"/>
          <p:nvPr/>
        </p:nvSpPr>
        <p:spPr>
          <a:xfrm>
            <a:off x="7094537" y="1830387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4"/>
          <p:cNvSpPr txBox="1"/>
          <p:nvPr/>
        </p:nvSpPr>
        <p:spPr>
          <a:xfrm>
            <a:off x="3927475" y="1828800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4"/>
          <p:cNvSpPr txBox="1"/>
          <p:nvPr/>
        </p:nvSpPr>
        <p:spPr>
          <a:xfrm>
            <a:off x="5946775" y="1830387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4"/>
          <p:cNvSpPr txBox="1"/>
          <p:nvPr/>
        </p:nvSpPr>
        <p:spPr>
          <a:xfrm>
            <a:off x="4860925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4"/>
          <p:cNvSpPr txBox="1"/>
          <p:nvPr/>
        </p:nvSpPr>
        <p:spPr>
          <a:xfrm>
            <a:off x="1400175" y="1389062"/>
            <a:ext cx="11541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34"/>
          <p:cNvSpPr txBox="1"/>
          <p:nvPr/>
        </p:nvSpPr>
        <p:spPr>
          <a:xfrm>
            <a:off x="2554287" y="1389062"/>
            <a:ext cx="11525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4"/>
          <p:cNvSpPr txBox="1"/>
          <p:nvPr/>
        </p:nvSpPr>
        <p:spPr>
          <a:xfrm>
            <a:off x="2833687" y="1828800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5"/>
          <p:cNvSpPr txBox="1"/>
          <p:nvPr/>
        </p:nvSpPr>
        <p:spPr>
          <a:xfrm>
            <a:off x="7235825" y="3362325"/>
            <a:ext cx="431800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 Operations</a:t>
            </a:r>
            <a:endParaRPr/>
          </a:p>
        </p:txBody>
      </p:sp>
      <p:sp>
        <p:nvSpPr>
          <p:cNvPr id="402" name="Google Shape;402;p35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mask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some bits, clear others to 0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and x9,x10,x11</a:t>
            </a:r>
            <a:endParaRPr/>
          </a:p>
        </p:txBody>
      </p:sp>
      <p:sp>
        <p:nvSpPr>
          <p:cNvPr id="403" name="Google Shape;403;p35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35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35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00000000 00000000 00000000 00000000 00000000 00000000 00001100 00000000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6"/>
          <p:cNvSpPr txBox="1"/>
          <p:nvPr/>
        </p:nvSpPr>
        <p:spPr>
          <a:xfrm>
            <a:off x="7235825" y="3362325"/>
            <a:ext cx="936625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OR Operations</a:t>
            </a:r>
            <a:endParaRPr/>
          </a:p>
        </p:txBody>
      </p:sp>
      <p:sp>
        <p:nvSpPr>
          <p:cNvPr id="420" name="Google Shape;420;p36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to include bits in a word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or x9,x10,x11</a:t>
            </a:r>
            <a:endParaRPr/>
          </a:p>
        </p:txBody>
      </p:sp>
      <p:sp>
        <p:nvSpPr>
          <p:cNvPr id="421" name="Google Shape;421;p36"/>
          <p:cNvSpPr txBox="1"/>
          <p:nvPr/>
        </p:nvSpPr>
        <p:spPr>
          <a:xfrm>
            <a:off x="1181100" y="34036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00000000 00000000 00000000 00000000 00000000 00000000 00001101 11000000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6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36"/>
          <p:cNvSpPr txBox="1"/>
          <p:nvPr/>
        </p:nvSpPr>
        <p:spPr>
          <a:xfrm>
            <a:off x="539750" y="3963987"/>
            <a:ext cx="57943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6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36"/>
          <p:cNvSpPr txBox="1"/>
          <p:nvPr/>
        </p:nvSpPr>
        <p:spPr>
          <a:xfrm>
            <a:off x="1181100" y="3987800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00000000 00000000 00000000 00000000 00000000 00000000 00111100 00000000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36"/>
          <p:cNvSpPr txBox="1"/>
          <p:nvPr/>
        </p:nvSpPr>
        <p:spPr>
          <a:xfrm>
            <a:off x="1181100" y="4568825"/>
            <a:ext cx="7783512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00000000 00000000 00000000 00000000 00000000 00000000 00111101 11000000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7"/>
          <p:cNvSpPr txBox="1"/>
          <p:nvPr/>
        </p:nvSpPr>
        <p:spPr>
          <a:xfrm>
            <a:off x="7451725" y="3362325"/>
            <a:ext cx="792162" cy="16049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3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XOR Operations</a:t>
            </a:r>
            <a:endParaRPr/>
          </a:p>
        </p:txBody>
      </p:sp>
      <p:sp>
        <p:nvSpPr>
          <p:cNvPr id="438" name="Google Shape;438;p37"/>
          <p:cNvSpPr txBox="1"/>
          <p:nvPr>
            <p:ph idx="1" type="body"/>
          </p:nvPr>
        </p:nvSpPr>
        <p:spPr>
          <a:xfrm>
            <a:off x="684212" y="1125537"/>
            <a:ext cx="8270875" cy="2073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Differencing operation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some bits to 1, leave others unchanged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xor x9,x10,x12  // NOT operation</a:t>
            </a:r>
            <a:endParaRPr/>
          </a:p>
        </p:txBody>
      </p:sp>
      <p:sp>
        <p:nvSpPr>
          <p:cNvPr id="439" name="Google Shape;439;p37"/>
          <p:cNvSpPr txBox="1"/>
          <p:nvPr/>
        </p:nvSpPr>
        <p:spPr>
          <a:xfrm>
            <a:off x="1181100" y="34036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00000000 00000000 00000000 00000000 00000000 00000000 00001101  11000000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37"/>
          <p:cNvSpPr txBox="1"/>
          <p:nvPr/>
        </p:nvSpPr>
        <p:spPr>
          <a:xfrm>
            <a:off x="539750" y="3403600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37"/>
          <p:cNvSpPr txBox="1"/>
          <p:nvPr/>
        </p:nvSpPr>
        <p:spPr>
          <a:xfrm>
            <a:off x="539750" y="3963987"/>
            <a:ext cx="5984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37"/>
          <p:cNvSpPr txBox="1"/>
          <p:nvPr/>
        </p:nvSpPr>
        <p:spPr>
          <a:xfrm>
            <a:off x="539750" y="4611687"/>
            <a:ext cx="4556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7"/>
          <p:cNvSpPr txBox="1"/>
          <p:nvPr/>
        </p:nvSpPr>
        <p:spPr>
          <a:xfrm>
            <a:off x="1181100" y="3987800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11111111    11111111  11111111   11111111   11111111   11111111   11111111   11111111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7"/>
          <p:cNvSpPr txBox="1"/>
          <p:nvPr/>
        </p:nvSpPr>
        <p:spPr>
          <a:xfrm>
            <a:off x="1181100" y="4568825"/>
            <a:ext cx="78549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11111111    11111111  11111111   11111111   11111111   11111111   11110010  00111111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38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Conditional Operations</a:t>
            </a:r>
            <a:endParaRPr/>
          </a:p>
        </p:txBody>
      </p:sp>
      <p:sp>
        <p:nvSpPr>
          <p:cNvPr id="455" name="Google Shape;455;p38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Branch to a labeled instruction if a condition is true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Otherwise, continue sequentially</a:t>
            </a:r>
            <a:endParaRPr/>
          </a:p>
          <a:p>
            <a:pPr indent="-20193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Noto Sans Symbols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beq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if (rs1 == rs2) branch to instruction labeled L1</a:t>
            </a:r>
            <a:endParaRPr/>
          </a:p>
          <a:p>
            <a:pPr indent="-187959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None/>
            </a:pPr>
            <a:r>
              <a:t/>
            </a:r>
            <a:endParaRPr i="0" sz="2800" u="none">
              <a:solidFill>
                <a:schemeClr val="dk1"/>
              </a:solidFill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bne rs1, rs2, L1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if (rs1 != rs2) branch to instruction labeled L1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i="0" sz="2400" u="none">
              <a:solidFill>
                <a:schemeClr val="dk1"/>
              </a:solidFill>
            </a:endParaRPr>
          </a:p>
        </p:txBody>
      </p:sp>
      <p:sp>
        <p:nvSpPr>
          <p:cNvPr id="456" name="Google Shape;456;p38"/>
          <p:cNvSpPr txBox="1"/>
          <p:nvPr/>
        </p:nvSpPr>
        <p:spPr>
          <a:xfrm rot="5400000">
            <a:off x="6938168" y="1839118"/>
            <a:ext cx="4044950" cy="3667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§2.7 Instructions for Making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Compiling If Statements</a:t>
            </a:r>
            <a:endParaRPr/>
          </a:p>
        </p:txBody>
      </p:sp>
      <p:sp>
        <p:nvSpPr>
          <p:cNvPr id="467" name="Google Shape;467;p39"/>
          <p:cNvSpPr txBox="1"/>
          <p:nvPr>
            <p:ph idx="1" type="body"/>
          </p:nvPr>
        </p:nvSpPr>
        <p:spPr>
          <a:xfrm>
            <a:off x="684212" y="1125537"/>
            <a:ext cx="8459787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 code: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if (i==j) f = g+h;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else f = g-h;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f, g, … in x19, x20, …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Compiled RISC-V code: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      bne x22, x23, Else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      add x19, x20, x21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      beq x0,x0,Exit // unconditional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Else: sub x19, x20, x21</a:t>
            </a:r>
            <a:br>
              <a:rPr i="0" lang="en-US" sz="2800" u="none">
                <a:solidFill>
                  <a:schemeClr val="dk1"/>
                </a:solidFill>
              </a:rPr>
            </a:br>
            <a:r>
              <a:rPr i="0" lang="en-US" sz="2800" u="none">
                <a:solidFill>
                  <a:schemeClr val="dk1"/>
                </a:solidFill>
              </a:rPr>
              <a:t>Exit: …</a:t>
            </a:r>
            <a:endParaRPr/>
          </a:p>
        </p:txBody>
      </p:sp>
      <p:sp>
        <p:nvSpPr>
          <p:cNvPr id="468" name="Google Shape;468;p39"/>
          <p:cNvSpPr/>
          <p:nvPr/>
        </p:nvSpPr>
        <p:spPr>
          <a:xfrm>
            <a:off x="3563937" y="5972175"/>
            <a:ext cx="3529012" cy="4032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8879" y="-6180"/>
                </a:moveTo>
                <a:lnTo>
                  <a:pt x="7348" y="-559"/>
                </a:lnTo>
              </a:path>
            </a:pathLst>
          </a:cu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Assembler calculates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02-09-P374493" id="469" name="Google Shape;46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64162" y="1484312"/>
            <a:ext cx="3468687" cy="210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4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More Conditional Operations</a:t>
            </a:r>
            <a:endParaRPr/>
          </a:p>
        </p:txBody>
      </p:sp>
      <p:sp>
        <p:nvSpPr>
          <p:cNvPr id="480" name="Google Shape;480;p4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blt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if (rs1 &lt; rs2) branch to instruction labeled L1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bge rs1, rs2, L1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if (rs1 &gt;= rs2) branch to instruction labeled L1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if (a &gt; b) a += 1;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a in x22, b in x23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i="0" lang="en-US" sz="2200" u="none">
                <a:solidFill>
                  <a:schemeClr val="dk1"/>
                </a:solidFill>
              </a:rPr>
              <a:t>  bge  x23, x22, Exit       // branch if b &gt;= a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i="0" lang="en-US" sz="2200" u="none">
                <a:solidFill>
                  <a:schemeClr val="dk1"/>
                </a:solidFill>
              </a:rPr>
              <a:t>  addi x22, x22, 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1210"/>
              <a:buNone/>
            </a:pPr>
            <a:r>
              <a:rPr i="0" lang="en-US" sz="2200" u="none">
                <a:solidFill>
                  <a:schemeClr val="dk1"/>
                </a:solidFill>
              </a:rPr>
              <a:t>Exit: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41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Signed vs. Unsigned</a:t>
            </a:r>
            <a:endParaRPr/>
          </a:p>
        </p:txBody>
      </p:sp>
      <p:sp>
        <p:nvSpPr>
          <p:cNvPr id="491" name="Google Shape;491;p41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Signed comparison: blt, bge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Unsigned comparison: bltu, bgeu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Arial"/>
              <a:buChar char="■"/>
            </a:pPr>
            <a:r>
              <a:rPr i="0" lang="en-US" sz="3200" u="none">
                <a:solidFill>
                  <a:schemeClr val="dk1"/>
                </a:solidFill>
              </a:rPr>
              <a:t>Example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x22 = </a:t>
            </a:r>
            <a:r>
              <a:rPr i="0" lang="en-US" sz="2400" u="none">
                <a:solidFill>
                  <a:schemeClr val="dk1"/>
                </a:solidFill>
              </a:rPr>
              <a:t>1111 1111 1111 1111 1111 1111 1111 1111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x23 = </a:t>
            </a:r>
            <a:r>
              <a:rPr i="0" lang="en-US" sz="2400" u="none">
                <a:solidFill>
                  <a:schemeClr val="dk1"/>
                </a:solidFill>
              </a:rPr>
              <a:t>0000 0000 0000 0000 0000 0000 0000 0001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x22 &lt; x23 // 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–1 &lt; +1</a:t>
            </a:r>
            <a:endParaRPr i="0" sz="2400" u="none">
              <a:solidFill>
                <a:schemeClr val="dk1"/>
              </a:solidFill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x22 &gt; x23 // unsigned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folHlink"/>
              </a:buClr>
              <a:buSzPts val="120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+4,294,967,295 &gt; +1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2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42"/>
          <p:cNvSpPr txBox="1"/>
          <p:nvPr>
            <p:ph type="title"/>
          </p:nvPr>
        </p:nvSpPr>
        <p:spPr>
          <a:xfrm>
            <a:off x="684212" y="200025"/>
            <a:ext cx="82597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Byte/Halfword/Word Operations</a:t>
            </a:r>
            <a:endParaRPr/>
          </a:p>
        </p:txBody>
      </p:sp>
      <p:sp>
        <p:nvSpPr>
          <p:cNvPr id="502" name="Google Shape;502;p42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44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RISC-V byte/halfword/word load/store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Load byte/halfword/word: Sign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lb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lh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lw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Load byte/halfword/word unsigned: Zero extend to 64 bits in rd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lbu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lhu rd,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lwu rd, offset(rs1)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■"/>
            </a:pPr>
            <a:r>
              <a:rPr i="0" lang="en-US" sz="2000" u="none">
                <a:solidFill>
                  <a:schemeClr val="dk1"/>
                </a:solidFill>
              </a:rPr>
              <a:t>Store byte/halfword/word: Store rightmost 8/16/32 bits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sb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sh rs2, offset(rs1)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folHlink"/>
              </a:buClr>
              <a:buSzPts val="900"/>
              <a:buFont typeface="Arial"/>
              <a:buChar char="■"/>
            </a:pPr>
            <a:r>
              <a:rPr i="0" lang="en-US" sz="1800" u="none">
                <a:solidFill>
                  <a:schemeClr val="dk1"/>
                </a:solidFill>
              </a:rPr>
              <a:t>sw rs2, offset(rs1)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"/>
          <p:cNvSpPr txBox="1"/>
          <p:nvPr>
            <p:ph idx="1" type="body"/>
          </p:nvPr>
        </p:nvSpPr>
        <p:spPr>
          <a:xfrm>
            <a:off x="684212" y="1125537"/>
            <a:ext cx="8270875" cy="2951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Most constants are small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12-bit immediate is sufficient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Arial"/>
              <a:buChar char="■"/>
            </a:pPr>
            <a:r>
              <a:rPr i="0" lang="en-US" sz="2800" u="none">
                <a:solidFill>
                  <a:schemeClr val="dk1"/>
                </a:solidFill>
              </a:rPr>
              <a:t>For the occasional 32-bit constant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680"/>
              <a:buNone/>
            </a:pPr>
            <a:r>
              <a:rPr i="0" lang="en-US" sz="2800" u="none">
                <a:solidFill>
                  <a:schemeClr val="dk1"/>
                </a:solidFill>
              </a:rPr>
              <a:t>	lui rd, constant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Copies 20-bit constant to bits [31:12] of 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Extends bit 31 to bits [63:32]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320"/>
              <a:buFont typeface="Arial"/>
              <a:buChar char="■"/>
            </a:pPr>
            <a:r>
              <a:rPr i="0" lang="en-US" sz="2400" u="none">
                <a:solidFill>
                  <a:schemeClr val="dk1"/>
                </a:solidFill>
              </a:rPr>
              <a:t>Clears bits [11:0] of rd to 0</a:t>
            </a:r>
            <a:endParaRPr/>
          </a:p>
        </p:txBody>
      </p:sp>
      <p:sp>
        <p:nvSpPr>
          <p:cNvPr id="512" name="Google Shape;512;p43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43"/>
          <p:cNvSpPr txBox="1"/>
          <p:nvPr/>
        </p:nvSpPr>
        <p:spPr>
          <a:xfrm>
            <a:off x="4400550" y="4881550"/>
            <a:ext cx="2611500" cy="3396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43"/>
          <p:cNvSpPr txBox="1"/>
          <p:nvPr/>
        </p:nvSpPr>
        <p:spPr>
          <a:xfrm>
            <a:off x="46037" y="4881562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43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32-bit Constants</a:t>
            </a:r>
            <a:endParaRPr/>
          </a:p>
        </p:txBody>
      </p:sp>
      <p:sp>
        <p:nvSpPr>
          <p:cNvPr id="516" name="Google Shape;516;p43"/>
          <p:cNvSpPr txBox="1"/>
          <p:nvPr/>
        </p:nvSpPr>
        <p:spPr>
          <a:xfrm>
            <a:off x="2627312" y="4491037"/>
            <a:ext cx="4262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i"/>
              <a:buNone/>
            </a:pPr>
            <a:r>
              <a:rPr i="0" lang="en-US" sz="2200" u="none" cap="none" strike="noStrike">
                <a:solidFill>
                  <a:schemeClr val="dk1"/>
                </a:solidFill>
              </a:rPr>
              <a:t>lui x19, 976  // 0x003D0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17" name="Google Shape;517;p43"/>
          <p:cNvSpPr txBox="1"/>
          <p:nvPr/>
        </p:nvSpPr>
        <p:spPr>
          <a:xfrm rot="5400000">
            <a:off x="6040437" y="2768600"/>
            <a:ext cx="5875337" cy="33813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§2.10 RISC-V Addressing for Wide Immediates and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43"/>
          <p:cNvSpPr txBox="1"/>
          <p:nvPr/>
        </p:nvSpPr>
        <p:spPr>
          <a:xfrm>
            <a:off x="2627312" y="5311775"/>
            <a:ext cx="47721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Oi"/>
              <a:buNone/>
            </a:pPr>
            <a:r>
              <a:rPr i="0" lang="en-US" sz="2200" u="none" cap="none" strike="noStrike">
                <a:solidFill>
                  <a:schemeClr val="dk1"/>
                </a:solidFill>
              </a:rPr>
              <a:t>addi x19,x19,1280  // 0x500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19" name="Google Shape;519;p43"/>
          <p:cNvSpPr txBox="1"/>
          <p:nvPr/>
        </p:nvSpPr>
        <p:spPr>
          <a:xfrm>
            <a:off x="2222500" y="4881562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43"/>
          <p:cNvSpPr txBox="1"/>
          <p:nvPr/>
        </p:nvSpPr>
        <p:spPr>
          <a:xfrm>
            <a:off x="7010400" y="4881562"/>
            <a:ext cx="166528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43"/>
          <p:cNvSpPr txBox="1"/>
          <p:nvPr/>
        </p:nvSpPr>
        <p:spPr>
          <a:xfrm>
            <a:off x="4400550" y="5730875"/>
            <a:ext cx="2611500" cy="339600"/>
          </a:xfrm>
          <a:prstGeom prst="rect">
            <a:avLst/>
          </a:prstGeom>
          <a:solidFill>
            <a:schemeClr val="folHlink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0000 0000 0011 1101 0000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43"/>
          <p:cNvSpPr txBox="1"/>
          <p:nvPr/>
        </p:nvSpPr>
        <p:spPr>
          <a:xfrm>
            <a:off x="46037" y="5730875"/>
            <a:ext cx="2178050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43"/>
          <p:cNvSpPr txBox="1"/>
          <p:nvPr/>
        </p:nvSpPr>
        <p:spPr>
          <a:xfrm>
            <a:off x="2222500" y="5730875"/>
            <a:ext cx="2179637" cy="33813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0000 0000 0000 0000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43"/>
          <p:cNvSpPr txBox="1"/>
          <p:nvPr/>
        </p:nvSpPr>
        <p:spPr>
          <a:xfrm>
            <a:off x="7010400" y="5730875"/>
            <a:ext cx="1665287" cy="338137"/>
          </a:xfrm>
          <a:prstGeom prst="rect">
            <a:avLst/>
          </a:prstGeom>
          <a:solidFill>
            <a:srgbClr val="ECEAAC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0101 0000 0000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4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44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Branch Addressing</a:t>
            </a:r>
            <a:endParaRPr/>
          </a:p>
        </p:txBody>
      </p:sp>
      <p:sp>
        <p:nvSpPr>
          <p:cNvPr id="535" name="Google Shape;535;p44"/>
          <p:cNvSpPr txBox="1"/>
          <p:nvPr>
            <p:ph idx="1" type="body"/>
          </p:nvPr>
        </p:nvSpPr>
        <p:spPr>
          <a:xfrm>
            <a:off x="684212" y="1125537"/>
            <a:ext cx="8270875" cy="2381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Branch instructions specify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Opcode, two registers, target address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Most branch targets are near branch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Forward or backward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SB format:</a:t>
            </a:r>
            <a:endParaRPr/>
          </a:p>
        </p:txBody>
      </p:sp>
      <p:sp>
        <p:nvSpPr>
          <p:cNvPr id="536" name="Google Shape;536;p44"/>
          <p:cNvSpPr txBox="1"/>
          <p:nvPr/>
        </p:nvSpPr>
        <p:spPr>
          <a:xfrm>
            <a:off x="771525" y="4941887"/>
            <a:ext cx="8183562" cy="1366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PC-relative addressing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Target address = PC + immediate ×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44"/>
          <p:cNvSpPr txBox="1"/>
          <p:nvPr/>
        </p:nvSpPr>
        <p:spPr>
          <a:xfrm>
            <a:off x="1331912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44"/>
          <p:cNvSpPr txBox="1"/>
          <p:nvPr/>
        </p:nvSpPr>
        <p:spPr>
          <a:xfrm>
            <a:off x="26289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44"/>
          <p:cNvSpPr txBox="1"/>
          <p:nvPr/>
        </p:nvSpPr>
        <p:spPr>
          <a:xfrm>
            <a:off x="3708400" y="3957637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rs1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44"/>
          <p:cNvSpPr txBox="1"/>
          <p:nvPr/>
        </p:nvSpPr>
        <p:spPr>
          <a:xfrm>
            <a:off x="5727700" y="3957637"/>
            <a:ext cx="788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44"/>
          <p:cNvSpPr txBox="1"/>
          <p:nvPr/>
        </p:nvSpPr>
        <p:spPr>
          <a:xfrm>
            <a:off x="4789487" y="3957637"/>
            <a:ext cx="93662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44"/>
          <p:cNvSpPr txBox="1"/>
          <p:nvPr/>
        </p:nvSpPr>
        <p:spPr>
          <a:xfrm>
            <a:off x="6807200" y="3957637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44"/>
          <p:cNvSpPr txBox="1"/>
          <p:nvPr/>
        </p:nvSpPr>
        <p:spPr>
          <a:xfrm>
            <a:off x="1652587" y="3894137"/>
            <a:ext cx="6334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[10:5]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44"/>
          <p:cNvSpPr txBox="1"/>
          <p:nvPr/>
        </p:nvSpPr>
        <p:spPr>
          <a:xfrm>
            <a:off x="5867400" y="3894137"/>
            <a:ext cx="531812" cy="501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</a:t>
            </a:r>
            <a:b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[4:1]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44"/>
          <p:cNvSpPr txBox="1"/>
          <p:nvPr/>
        </p:nvSpPr>
        <p:spPr>
          <a:xfrm>
            <a:off x="6516687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44"/>
          <p:cNvSpPr txBox="1"/>
          <p:nvPr/>
        </p:nvSpPr>
        <p:spPr>
          <a:xfrm>
            <a:off x="1041400" y="3957637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44"/>
          <p:cNvSpPr txBox="1"/>
          <p:nvPr/>
        </p:nvSpPr>
        <p:spPr>
          <a:xfrm>
            <a:off x="771525" y="4572000"/>
            <a:ext cx="822325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44"/>
          <p:cNvCxnSpPr/>
          <p:nvPr/>
        </p:nvCxnSpPr>
        <p:spPr>
          <a:xfrm rot="10800000">
            <a:off x="1182687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9" name="Google Shape;549;p44"/>
          <p:cNvSpPr txBox="1"/>
          <p:nvPr/>
        </p:nvSpPr>
        <p:spPr>
          <a:xfrm>
            <a:off x="6257925" y="4572000"/>
            <a:ext cx="808037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44"/>
          <p:cNvCxnSpPr/>
          <p:nvPr/>
        </p:nvCxnSpPr>
        <p:spPr>
          <a:xfrm rot="10800000">
            <a:off x="6661150" y="4230687"/>
            <a:ext cx="0" cy="34131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5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45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Jump Addressing</a:t>
            </a:r>
            <a:endParaRPr/>
          </a:p>
        </p:txBody>
      </p:sp>
      <p:sp>
        <p:nvSpPr>
          <p:cNvPr id="561" name="Google Shape;561;p45"/>
          <p:cNvSpPr txBox="1"/>
          <p:nvPr>
            <p:ph idx="1" type="body"/>
          </p:nvPr>
        </p:nvSpPr>
        <p:spPr>
          <a:xfrm>
            <a:off x="684212" y="1125537"/>
            <a:ext cx="8270875" cy="1843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Jump and link (</a:t>
            </a:r>
            <a:r>
              <a:rPr i="0" lang="en-US" sz="3200" u="none">
                <a:solidFill>
                  <a:schemeClr val="dk1"/>
                </a:solidFill>
              </a:rPr>
              <a:t>jal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target uses 20-bit immediate for larger range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UJ format:</a:t>
            </a:r>
            <a:endParaRPr/>
          </a:p>
        </p:txBody>
      </p:sp>
      <p:sp>
        <p:nvSpPr>
          <p:cNvPr id="562" name="Google Shape;562;p45"/>
          <p:cNvSpPr txBox="1"/>
          <p:nvPr/>
        </p:nvSpPr>
        <p:spPr>
          <a:xfrm>
            <a:off x="684212" y="3933825"/>
            <a:ext cx="7772400" cy="1682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 long jumps, eg, to 32-bit absolute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lui: load address[31:12] to temp register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folHlink"/>
              </a:buClr>
              <a:buSzPts val="1680"/>
              <a:buFont typeface="Noto Sans Symbols"/>
              <a:buChar char="■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jalr: add address[11:0] and jump to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45"/>
          <p:cNvSpPr txBox="1"/>
          <p:nvPr/>
        </p:nvSpPr>
        <p:spPr>
          <a:xfrm>
            <a:off x="5727700" y="2863850"/>
            <a:ext cx="107950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45"/>
          <p:cNvSpPr txBox="1"/>
          <p:nvPr/>
        </p:nvSpPr>
        <p:spPr>
          <a:xfrm>
            <a:off x="6807200" y="2863850"/>
            <a:ext cx="1296987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45"/>
          <p:cNvSpPr txBox="1"/>
          <p:nvPr/>
        </p:nvSpPr>
        <p:spPr>
          <a:xfrm>
            <a:off x="7094537" y="3306762"/>
            <a:ext cx="674687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45"/>
          <p:cNvSpPr txBox="1"/>
          <p:nvPr/>
        </p:nvSpPr>
        <p:spPr>
          <a:xfrm>
            <a:off x="5946775" y="3306762"/>
            <a:ext cx="6699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45"/>
          <p:cNvSpPr txBox="1"/>
          <p:nvPr/>
        </p:nvSpPr>
        <p:spPr>
          <a:xfrm>
            <a:off x="3944937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45"/>
          <p:cNvSpPr txBox="1"/>
          <p:nvPr/>
        </p:nvSpPr>
        <p:spPr>
          <a:xfrm>
            <a:off x="3686175" y="3478212"/>
            <a:ext cx="808037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9" name="Google Shape;569;p45"/>
          <p:cNvCxnSpPr/>
          <p:nvPr/>
        </p:nvCxnSpPr>
        <p:spPr>
          <a:xfrm rot="10800000">
            <a:off x="4090987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0" name="Google Shape;570;p45"/>
          <p:cNvSpPr txBox="1"/>
          <p:nvPr/>
        </p:nvSpPr>
        <p:spPr>
          <a:xfrm>
            <a:off x="1108075" y="2863850"/>
            <a:ext cx="290512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45"/>
          <p:cNvSpPr txBox="1"/>
          <p:nvPr/>
        </p:nvSpPr>
        <p:spPr>
          <a:xfrm>
            <a:off x="838200" y="3478212"/>
            <a:ext cx="82232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428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imm[20]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2" name="Google Shape;572;p45"/>
          <p:cNvCxnSpPr/>
          <p:nvPr/>
        </p:nvCxnSpPr>
        <p:spPr>
          <a:xfrm rot="10800000">
            <a:off x="1249362" y="3138487"/>
            <a:ext cx="0" cy="3397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73" name="Google Shape;573;p45"/>
          <p:cNvSpPr txBox="1"/>
          <p:nvPr/>
        </p:nvSpPr>
        <p:spPr>
          <a:xfrm>
            <a:off x="4235450" y="2863850"/>
            <a:ext cx="1492250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45"/>
          <p:cNvSpPr txBox="1"/>
          <p:nvPr/>
        </p:nvSpPr>
        <p:spPr>
          <a:xfrm>
            <a:off x="1398587" y="2863850"/>
            <a:ext cx="2543175" cy="4159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45"/>
          <p:cNvSpPr txBox="1"/>
          <p:nvPr/>
        </p:nvSpPr>
        <p:spPr>
          <a:xfrm>
            <a:off x="2008187" y="2968625"/>
            <a:ext cx="1198562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imm[10:1]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45"/>
          <p:cNvSpPr txBox="1"/>
          <p:nvPr/>
        </p:nvSpPr>
        <p:spPr>
          <a:xfrm>
            <a:off x="4284662" y="2968625"/>
            <a:ext cx="1327150" cy="296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8888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imm[19:12]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6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Addressing Summary</a:t>
            </a:r>
            <a:endParaRPr/>
          </a:p>
        </p:txBody>
      </p:sp>
      <p:sp>
        <p:nvSpPr>
          <p:cNvPr id="582" name="Google Shape;582;p46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3" name="Google Shape;58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268412"/>
            <a:ext cx="7559675" cy="488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7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RISC-V Encoding Summary</a:t>
            </a:r>
            <a:endParaRPr/>
          </a:p>
        </p:txBody>
      </p:sp>
      <p:sp>
        <p:nvSpPr>
          <p:cNvPr id="589" name="Google Shape;589;p47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0" name="Google Shape;59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844675"/>
            <a:ext cx="8123237" cy="16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8"/>
          <p:cNvSpPr txBox="1"/>
          <p:nvPr/>
        </p:nvSpPr>
        <p:spPr>
          <a:xfrm>
            <a:off x="1692275" y="6381750"/>
            <a:ext cx="72723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8"/>
          <p:cNvSpPr txBox="1"/>
          <p:nvPr>
            <p:ph type="title"/>
          </p:nvPr>
        </p:nvSpPr>
        <p:spPr>
          <a:xfrm>
            <a:off x="684212" y="146050"/>
            <a:ext cx="8259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Lessons Learnt</a:t>
            </a:r>
            <a:endParaRPr/>
          </a:p>
        </p:txBody>
      </p:sp>
      <p:sp>
        <p:nvSpPr>
          <p:cNvPr id="601" name="Google Shape;601;p48"/>
          <p:cNvSpPr txBox="1"/>
          <p:nvPr>
            <p:ph idx="1" type="body"/>
          </p:nvPr>
        </p:nvSpPr>
        <p:spPr>
          <a:xfrm>
            <a:off x="684212" y="1125537"/>
            <a:ext cx="8271000" cy="51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Instruction count and CPI are not good performance indicators in isolation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 optimizations are sensitive to the algorithm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Java/JIT compiled code is significantly faster than JVM interpreted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Comparable to optimized C in some cases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Nothing can fix a dumb algorithm!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9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9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Instruction Encoding</a:t>
            </a:r>
            <a:endParaRPr/>
          </a:p>
        </p:txBody>
      </p:sp>
      <p:pic>
        <p:nvPicPr>
          <p:cNvPr id="612" name="Google Shape;61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0112" y="1365250"/>
            <a:ext cx="7772400" cy="43672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0"/>
          <p:cNvSpPr txBox="1"/>
          <p:nvPr/>
        </p:nvSpPr>
        <p:spPr>
          <a:xfrm>
            <a:off x="1692275" y="6381750"/>
            <a:ext cx="7272337" cy="3587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Chapter 2 — Instructions: Language of the Computer — </a:t>
            </a:r>
            <a:fld id="{00000000-1234-1234-1234-123412341234}" type="slidenum"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0"/>
          <p:cNvSpPr txBox="1"/>
          <p:nvPr>
            <p:ph type="title"/>
          </p:nvPr>
        </p:nvSpPr>
        <p:spPr>
          <a:xfrm>
            <a:off x="684212" y="146050"/>
            <a:ext cx="8259762" cy="7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Concluding Remarks</a:t>
            </a:r>
            <a:endParaRPr/>
          </a:p>
        </p:txBody>
      </p:sp>
      <p:sp>
        <p:nvSpPr>
          <p:cNvPr id="623" name="Google Shape;623;p50"/>
          <p:cNvSpPr txBox="1"/>
          <p:nvPr>
            <p:ph idx="1" type="body"/>
          </p:nvPr>
        </p:nvSpPr>
        <p:spPr>
          <a:xfrm>
            <a:off x="684212" y="1125537"/>
            <a:ext cx="8270875" cy="5111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principles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1.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Simplicity favors regularity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Smaller is faster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1540"/>
              <a:buNone/>
            </a:pPr>
            <a:r>
              <a:rPr b="0" i="0" lang="en-US" sz="2800" u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3.</a:t>
            </a: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Good design demands good compromises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Make the common case fast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Layers of software/hardware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Compiler, assembler, hardware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folHlink"/>
              </a:buClr>
              <a:buSzPts val="192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RISC-V: typical of RISC ISAs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540"/>
              <a:buFont typeface="Noto Sans Symbols"/>
              <a:buChar char="■"/>
            </a:pPr>
            <a:r>
              <a:rPr b="0" i="0" lang="en-US" sz="2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c.f. x86</a:t>
            </a:r>
            <a:endParaRPr/>
          </a:p>
        </p:txBody>
      </p:sp>
      <p:sp>
        <p:nvSpPr>
          <p:cNvPr id="624" name="Google Shape;624;p50"/>
          <p:cNvSpPr txBox="1"/>
          <p:nvPr/>
        </p:nvSpPr>
        <p:spPr>
          <a:xfrm rot="5400000">
            <a:off x="7477125" y="1295400"/>
            <a:ext cx="2967037" cy="3698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folHlink"/>
                </a:solidFill>
                <a:latin typeface="Arial"/>
                <a:ea typeface="Arial"/>
                <a:cs typeface="Arial"/>
                <a:sym typeface="Arial"/>
              </a:rPr>
              <a:t>§2.23 Concluding Remarks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cod4e">
  <a:themeElements>
    <a:clrScheme name="1_cod4e 7">
      <a:dk1>
        <a:srgbClr val="000000"/>
      </a:dk1>
      <a:lt1>
        <a:srgbClr val="FFFFFF"/>
      </a:lt1>
      <a:dk2>
        <a:srgbClr val="0039A6"/>
      </a:dk2>
      <a:lt2>
        <a:srgbClr val="808080"/>
      </a:lt2>
      <a:accent1>
        <a:srgbClr val="9FCAD3"/>
      </a:accent1>
      <a:accent2>
        <a:srgbClr val="C0C0C0"/>
      </a:accent2>
      <a:accent3>
        <a:srgbClr val="FFFFFF"/>
      </a:accent3>
      <a:accent4>
        <a:srgbClr val="000000"/>
      </a:accent4>
      <a:accent5>
        <a:srgbClr val="CDE1E6"/>
      </a:accent5>
      <a:accent6>
        <a:srgbClr val="AEAEAE"/>
      </a:accent6>
      <a:hlink>
        <a:srgbClr val="91AFBF"/>
      </a:hlink>
      <a:folHlink>
        <a:srgbClr val="ECEAA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