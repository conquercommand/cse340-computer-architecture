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y="6858000" cx="9144000"/>
  <p:notesSz cx="7099300" cy="10234600"/>
  <p:embeddedFontLst>
    <p:embeddedFont>
      <p:font typeface="Corbel"/>
      <p:regular r:id="rId53"/>
      <p:bold r:id="rId54"/>
      <p:italic r:id="rId55"/>
      <p:boldItalic r:id="rId56"/>
    </p:embeddedFont>
    <p:embeddedFont>
      <p:font typeface="Arial Black"/>
      <p:regular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A6D442-C0C2-4369-8A4D-787DF8521776}">
  <a:tblStyle styleId="{E7A6D442-C0C2-4369-8A4D-787DF85217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font" Target="fonts/Corbel-regular.fntdata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Corbel-italic.fntdata"/><Relationship Id="rId10" Type="http://schemas.openxmlformats.org/officeDocument/2006/relationships/slide" Target="slides/slide3.xml"/><Relationship Id="rId54" Type="http://schemas.openxmlformats.org/officeDocument/2006/relationships/font" Target="fonts/Corbel-bold.fntdata"/><Relationship Id="rId13" Type="http://schemas.openxmlformats.org/officeDocument/2006/relationships/slide" Target="slides/slide6.xml"/><Relationship Id="rId57" Type="http://schemas.openxmlformats.org/officeDocument/2006/relationships/font" Target="fonts/ArialBlack-regular.fntdata"/><Relationship Id="rId12" Type="http://schemas.openxmlformats.org/officeDocument/2006/relationships/slide" Target="slides/slide5.xml"/><Relationship Id="rId56" Type="http://schemas.openxmlformats.org/officeDocument/2006/relationships/font" Target="fonts/Corbel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2" name="Google Shape;542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9" name="Google Shape;599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2" name="Google Shape;612;p4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5" name="Google Shape;635;p4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6" name="Google Shape;64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3" name="Google Shape;663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7" name="Google Shape;687;p4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684213" y="1125538"/>
            <a:ext cx="8270875" cy="247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684213" y="3757613"/>
            <a:ext cx="8270875" cy="247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74" name="Google Shape;74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75" name="Google Shape;75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81" name="Google Shape;81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82" name="Google Shape;82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83" name="Google Shape;83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8" name="Google Shape;88;p15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9" name="Google Shape;89;p1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93" name="Google Shape;93;p1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3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4175" y="93662"/>
            <a:ext cx="935037" cy="935037"/>
            <a:chOff x="8004175" y="93663"/>
            <a:chExt cx="935038" cy="935037"/>
          </a:xfrm>
        </p:grpSpPr>
        <p:sp>
          <p:nvSpPr>
            <p:cNvPr id="21" name="Google Shape;21;p1"/>
            <p:cNvSpPr/>
            <p:nvPr/>
          </p:nvSpPr>
          <p:spPr>
            <a:xfrm>
              <a:off x="8004175" y="93663"/>
              <a:ext cx="935038" cy="935037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7988" y="293688"/>
              <a:ext cx="901700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2125" y="493713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6.jpg"/><Relationship Id="rId5" Type="http://schemas.openxmlformats.org/officeDocument/2006/relationships/image" Target="../media/image20.jpg"/><Relationship Id="rId6" Type="http://schemas.openxmlformats.org/officeDocument/2006/relationships/image" Target="../media/image2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jpg"/><Relationship Id="rId4" Type="http://schemas.openxmlformats.org/officeDocument/2006/relationships/image" Target="../media/image3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Relationship Id="rId4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Relationship Id="rId4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Chapter 1</a:t>
            </a:r>
            <a:endParaRPr/>
          </a:p>
        </p:txBody>
      </p:sp>
      <p:sp>
        <p:nvSpPr>
          <p:cNvPr id="103" name="Google Shape;103;p17"/>
          <p:cNvSpPr txBox="1"/>
          <p:nvPr>
            <p:ph idx="1" type="subTitle"/>
          </p:nvPr>
        </p:nvSpPr>
        <p:spPr>
          <a:xfrm>
            <a:off x="2268537" y="3068637"/>
            <a:ext cx="58324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Computer Abstractions and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Computer Revolution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Progress in computer technology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Underpinned by Moore’s Law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Makes novel applications feasible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 in automobiles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Cell phones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genome project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 Wide Web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 Engines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 are pervasive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 rot="5400000">
            <a:off x="8016875" y="760412"/>
            <a:ext cx="1887537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Classes of Computers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 computers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purpose, variety of software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cost/performance tradeoff</a:t>
            </a:r>
            <a:endParaRPr/>
          </a:p>
          <a:p>
            <a:pPr indent="-187959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computers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based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capacity, performance, reliability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 from small servers to building sized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Classes of Computers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Supercomputers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High-end scientific and engineering calculations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Highest capability but represent a small fraction of the overall computer market</a:t>
            </a:r>
            <a:endParaRPr/>
          </a:p>
          <a:p>
            <a:pPr indent="-187959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Embedded computers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as components of systems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Stringent power/performance/cost constraints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PostPC Era</a:t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1268412"/>
            <a:ext cx="6769100" cy="45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PostPC Era</a:t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 Mobile Device (PMD)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Battery operated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Connects to the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Hundreds of dollars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phones, tablets, electronic glasses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computing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Warehouse Scale Computers (WSC)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as a Service (SaaS)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Portion of software run on a PMD and a portion run in the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and 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You Will Learn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programs are translated into the machine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how the hardware executes them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hardware/software interface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determines program performance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how it can be improved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hardware designers improve performance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parallel processing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Understanding Performance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Determines number of operations executed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language, compiler, architecture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number of machine instructions executed per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Processor and memory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how fast instructions are executed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system (including OS)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Determines how fast I/O operations are executed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Eight Great Ideas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for </a:t>
            </a: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Moore’s Law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simplify design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</a:t>
            </a: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case fast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memories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Dependability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redundancy</a:t>
            </a:r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 rot="5400000">
            <a:off x="6418262" y="2357437"/>
            <a:ext cx="5084762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§1.2 Eight Great Ideas in Computer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4887" y="1112837"/>
            <a:ext cx="64770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6437" y="1760537"/>
            <a:ext cx="576262" cy="7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5350" y="2389187"/>
            <a:ext cx="858837" cy="69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85000" y="2997200"/>
            <a:ext cx="719137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57900" y="3597275"/>
            <a:ext cx="698500" cy="792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96112" y="4197350"/>
            <a:ext cx="690562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11862" y="4808537"/>
            <a:ext cx="787400" cy="792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75462" y="5586412"/>
            <a:ext cx="922337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Below Your Program</a:t>
            </a:r>
            <a:endParaRPr/>
          </a:p>
        </p:txBody>
      </p:sp>
      <p:sp>
        <p:nvSpPr>
          <p:cNvPr id="200" name="Google Shape;200;p26"/>
          <p:cNvSpPr txBox="1"/>
          <p:nvPr>
            <p:ph idx="1" type="body"/>
          </p:nvPr>
        </p:nvSpPr>
        <p:spPr>
          <a:xfrm>
            <a:off x="3132137" y="1125537"/>
            <a:ext cx="5822950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software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Written in high-level language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software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Compiler: translates HLL code to machine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System: service code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Handling input/output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Managing memory and storage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Scheduling tasks &amp; sharing resources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Processor, memory, I/O controllers</a:t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 rot="5400000">
            <a:off x="7560468" y="1215231"/>
            <a:ext cx="2800350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§1.3 Below Your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1-02-P374493" id="202" name="Google Shape;2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2781300"/>
            <a:ext cx="24003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Levels of Program Code</a:t>
            </a:r>
            <a:endParaRPr/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684212" y="1125537"/>
            <a:ext cx="47513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High-level language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 of abstraction closer to problem domain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for productivity and portability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Assembly language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Textual representation of instructions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representation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digits (bits)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Encoded instructions and data</a:t>
            </a:r>
            <a:endParaRPr/>
          </a:p>
        </p:txBody>
      </p:sp>
      <p:pic>
        <p:nvPicPr>
          <p:cNvPr id="214" name="Google Shape;2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8600" y="1125537"/>
            <a:ext cx="3367087" cy="526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1-04-P374493" id="224" name="Google Shape;2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2060575"/>
            <a:ext cx="3973512" cy="34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Components of a Computer</a:t>
            </a:r>
            <a:endParaRPr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4356100" y="1125537"/>
            <a:ext cx="45989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components for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kinds of computer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Desktop, server,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Input/output includes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User-interface devices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Display, keyboard, mouse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devices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disk, CD/DVD, flash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adapters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communicating with other computers</a:t>
            </a:r>
            <a:endParaRPr/>
          </a:p>
        </p:txBody>
      </p:sp>
      <p:sp>
        <p:nvSpPr>
          <p:cNvPr id="227" name="Google Shape;227;p28"/>
          <p:cNvSpPr txBox="1"/>
          <p:nvPr/>
        </p:nvSpPr>
        <p:spPr>
          <a:xfrm rot="5400000">
            <a:off x="7708106" y="1064418"/>
            <a:ext cx="2505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§1.4 Under the Covers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684212" y="1258887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Touchscreen</a:t>
            </a:r>
            <a:endParaRPr/>
          </a:p>
        </p:txBody>
      </p:sp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684212" y="1125537"/>
            <a:ext cx="4057650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PostPC device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Supersedes keyboard and mouse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Resistive and Capacitive 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tablets, smart phones use capacitive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Capacitive allows multiple touches simultaneously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rtassoc.com/wp-content/uploads/2010/01/iPad-w-hands.jpg" id="240" name="Google Shape;2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362" y="1844675"/>
            <a:ext cx="336232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Opening the Box</a:t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136650"/>
            <a:ext cx="4173537" cy="3589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5" y="4437062"/>
            <a:ext cx="6480175" cy="195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/>
          <p:nvPr/>
        </p:nvSpPr>
        <p:spPr>
          <a:xfrm>
            <a:off x="5076825" y="1241425"/>
            <a:ext cx="39592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Capacitive multitouch LCD screen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30"/>
          <p:cNvCxnSpPr/>
          <p:nvPr/>
        </p:nvCxnSpPr>
        <p:spPr>
          <a:xfrm flipH="1">
            <a:off x="2987675" y="1425575"/>
            <a:ext cx="1944687" cy="347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55" name="Google Shape;255;p30"/>
          <p:cNvSpPr txBox="1"/>
          <p:nvPr/>
        </p:nvSpPr>
        <p:spPr>
          <a:xfrm>
            <a:off x="5164137" y="1746250"/>
            <a:ext cx="39608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3.8 V, 25 Watt-hour battery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30"/>
          <p:cNvCxnSpPr/>
          <p:nvPr/>
        </p:nvCxnSpPr>
        <p:spPr>
          <a:xfrm flipH="1">
            <a:off x="4500562" y="1931987"/>
            <a:ext cx="663575" cy="560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57" name="Google Shape;257;p30"/>
          <p:cNvSpPr txBox="1"/>
          <p:nvPr/>
        </p:nvSpPr>
        <p:spPr>
          <a:xfrm>
            <a:off x="6081712" y="2565400"/>
            <a:ext cx="21256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30"/>
          <p:cNvCxnSpPr/>
          <p:nvPr/>
        </p:nvCxnSpPr>
        <p:spPr>
          <a:xfrm flipH="1">
            <a:off x="2698750" y="2751137"/>
            <a:ext cx="3313112" cy="1182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59" name="Google Shape;259;p30"/>
          <p:cNvCxnSpPr/>
          <p:nvPr/>
        </p:nvCxnSpPr>
        <p:spPr>
          <a:xfrm flipH="1">
            <a:off x="6227762" y="2935287"/>
            <a:ext cx="917575" cy="15017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Inside the Processor (CPU)</a:t>
            </a:r>
            <a:endParaRPr/>
          </a:p>
        </p:txBody>
      </p:sp>
      <p:sp>
        <p:nvSpPr>
          <p:cNvPr id="270" name="Google Shape;270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Datapath: performs operations on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Control: sequences datapath, memory, ...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fast SRAM memory for immediate access to data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Inside the Processor</a:t>
            </a:r>
            <a:endParaRPr/>
          </a:p>
        </p:txBody>
      </p:sp>
      <p:sp>
        <p:nvSpPr>
          <p:cNvPr id="281" name="Google Shape;281;p32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Apple A5</a:t>
            </a:r>
            <a:endParaRPr/>
          </a:p>
        </p:txBody>
      </p:sp>
      <p:pic>
        <p:nvPicPr>
          <p:cNvPr id="282" name="Google Shape;28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337" y="1773237"/>
            <a:ext cx="3833812" cy="4611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Abstractions</a:t>
            </a:r>
            <a:endParaRPr/>
          </a:p>
        </p:txBody>
      </p:sp>
      <p:sp>
        <p:nvSpPr>
          <p:cNvPr id="293" name="Google Shape;293;p33"/>
          <p:cNvSpPr txBox="1"/>
          <p:nvPr>
            <p:ph idx="1" type="body"/>
          </p:nvPr>
        </p:nvSpPr>
        <p:spPr>
          <a:xfrm>
            <a:off x="684212" y="1700212"/>
            <a:ext cx="8270875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Abstraction helps us deal with complexity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Hide lower-level detail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architecture (ISA)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hardware/software interface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binary interface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ISA plus system software interface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details underlying and interface</a:t>
            </a:r>
            <a:endParaRPr/>
          </a:p>
        </p:txBody>
      </p:sp>
      <p:sp>
        <p:nvSpPr>
          <p:cNvPr id="294" name="Google Shape;294;p33"/>
          <p:cNvSpPr txBox="1"/>
          <p:nvPr/>
        </p:nvSpPr>
        <p:spPr>
          <a:xfrm>
            <a:off x="684212" y="1187450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lash-cards" id="304" name="Google Shape;30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8425" y="1196975"/>
            <a:ext cx="2695575" cy="203041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Safe Place for Data</a:t>
            </a:r>
            <a:endParaRPr/>
          </a:p>
        </p:txBody>
      </p:sp>
      <p:sp>
        <p:nvSpPr>
          <p:cNvPr id="306" name="Google Shape;306;p34"/>
          <p:cNvSpPr txBox="1"/>
          <p:nvPr>
            <p:ph idx="1" type="body"/>
          </p:nvPr>
        </p:nvSpPr>
        <p:spPr>
          <a:xfrm>
            <a:off x="684212" y="1125537"/>
            <a:ext cx="8270875" cy="247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Volatile main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Loses instructions and data when power off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Non-volatile secondary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Magnetic disk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Flash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Optical disk (CDROM, DVD)</a:t>
            </a:r>
            <a:endParaRPr/>
          </a:p>
        </p:txBody>
      </p:sp>
      <p:pic>
        <p:nvPicPr>
          <p:cNvPr descr="hard-disk-drive" id="307" name="Google Shape;30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187" y="3716337"/>
            <a:ext cx="4537075" cy="2557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ash-memory-exploded" id="308" name="Google Shape;30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9562" y="3141662"/>
            <a:ext cx="18288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vd-drive" id="309" name="Google Shape;30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8625" y="4797425"/>
            <a:ext cx="2454275" cy="14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sp>
        <p:nvSpPr>
          <p:cNvPr id="320" name="Google Shape;320;p35"/>
          <p:cNvSpPr txBox="1"/>
          <p:nvPr>
            <p:ph idx="1" type="body"/>
          </p:nvPr>
        </p:nvSpPr>
        <p:spPr>
          <a:xfrm>
            <a:off x="684212" y="1125537"/>
            <a:ext cx="827087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Communication, resource sharing, nonlocal access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area network (LAN): Ethernet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Wide area network (WAN): the Internet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 network: WiFi, Bluetooth</a:t>
            </a:r>
            <a:endParaRPr/>
          </a:p>
        </p:txBody>
      </p:sp>
      <p:pic>
        <p:nvPicPr>
          <p:cNvPr descr="ethernet-cables" id="321" name="Google Shape;3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6825" y="4365625"/>
            <a:ext cx="2289175" cy="171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reless-router" id="322" name="Google Shape;32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250" y="3860800"/>
            <a:ext cx="2524125" cy="259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 Trends</a:t>
            </a:r>
            <a:endParaRPr/>
          </a:p>
        </p:txBody>
      </p:sp>
      <p:sp>
        <p:nvSpPr>
          <p:cNvPr id="333" name="Google Shape;333;p36"/>
          <p:cNvSpPr txBox="1"/>
          <p:nvPr>
            <p:ph idx="1" type="body"/>
          </p:nvPr>
        </p:nvSpPr>
        <p:spPr>
          <a:xfrm>
            <a:off x="684212" y="1125537"/>
            <a:ext cx="3311525" cy="273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Electronics technology continues to evolve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Increased capacity and performance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Reduced cost</a:t>
            </a:r>
            <a:endParaRPr/>
          </a:p>
        </p:txBody>
      </p:sp>
      <p:graphicFrame>
        <p:nvGraphicFramePr>
          <p:cNvPr id="334" name="Google Shape;334;p36"/>
          <p:cNvGraphicFramePr/>
          <p:nvPr/>
        </p:nvGraphicFramePr>
        <p:xfrm>
          <a:off x="612775" y="386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{E7A6D442-C0C2-4369-8A4D-787DF8521776}</a:tableStyleId>
              </a:tblPr>
              <a:tblGrid>
                <a:gridCol w="865175"/>
                <a:gridCol w="3527425"/>
                <a:gridCol w="2736850"/>
                <a:gridCol w="7905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Technology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Relative performance/cost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1951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Vacuum tube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1965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Transistor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1975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Integrated circuit (IC)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1995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large scale IC (VLSI)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2,400,000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Ultra large scale IC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250,000,000,000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p36"/>
          <p:cNvSpPr txBox="1"/>
          <p:nvPr/>
        </p:nvSpPr>
        <p:spPr>
          <a:xfrm>
            <a:off x="5867400" y="3259137"/>
            <a:ext cx="1417637" cy="3143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DRAM capacity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275" y="1268412"/>
            <a:ext cx="4708525" cy="188436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6"/>
          <p:cNvSpPr txBox="1"/>
          <p:nvPr/>
        </p:nvSpPr>
        <p:spPr>
          <a:xfrm rot="5400000">
            <a:off x="6049168" y="2729706"/>
            <a:ext cx="5822950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§1.5 Technologies for Building Processors and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Manufacturing ICs</a:t>
            </a:r>
            <a:endParaRPr/>
          </a:p>
        </p:txBody>
      </p:sp>
      <p:sp>
        <p:nvSpPr>
          <p:cNvPr id="348" name="Google Shape;348;p37"/>
          <p:cNvSpPr txBox="1"/>
          <p:nvPr>
            <p:ph idx="1" type="body"/>
          </p:nvPr>
        </p:nvSpPr>
        <p:spPr>
          <a:xfrm>
            <a:off x="684212" y="5300662"/>
            <a:ext cx="8270875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Yield: proportion of working dies per wafer</a:t>
            </a:r>
            <a:endParaRPr/>
          </a:p>
        </p:txBody>
      </p:sp>
      <p:pic>
        <p:nvPicPr>
          <p:cNvPr descr="f01-18-P374493" id="349" name="Google Shape;34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1412875"/>
            <a:ext cx="6481762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Intel Core i7 Wafer</a:t>
            </a:r>
            <a:endParaRPr/>
          </a:p>
        </p:txBody>
      </p:sp>
      <p:sp>
        <p:nvSpPr>
          <p:cNvPr id="360" name="Google Shape;360;p38"/>
          <p:cNvSpPr txBox="1"/>
          <p:nvPr>
            <p:ph idx="1" type="body"/>
          </p:nvPr>
        </p:nvSpPr>
        <p:spPr>
          <a:xfrm>
            <a:off x="684212" y="5157787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300mm wafer, 280 chips, 32nm technology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chip is 20.7 x 10.5 mm</a:t>
            </a:r>
            <a:endParaRPr/>
          </a:p>
        </p:txBody>
      </p:sp>
      <p:pic>
        <p:nvPicPr>
          <p:cNvPr id="361" name="Google Shape;3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8537" y="1052512"/>
            <a:ext cx="4175125" cy="414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Integrated Circuit Cost</a:t>
            </a:r>
            <a:endParaRPr/>
          </a:p>
        </p:txBody>
      </p:sp>
      <p:sp>
        <p:nvSpPr>
          <p:cNvPr id="372" name="Google Shape;372;p39"/>
          <p:cNvSpPr txBox="1"/>
          <p:nvPr>
            <p:ph idx="1" type="body"/>
          </p:nvPr>
        </p:nvSpPr>
        <p:spPr>
          <a:xfrm>
            <a:off x="684212" y="4005262"/>
            <a:ext cx="8270875" cy="2232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Nonlinear relation to area and defect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Wafer cost and area are fixed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 rate determined by manufacturing process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 area determined by architecture and circuit design</a:t>
            </a:r>
            <a:endParaRPr/>
          </a:p>
        </p:txBody>
      </p:sp>
      <p:pic>
        <p:nvPicPr>
          <p:cNvPr id="373" name="Google Shape;37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5" y="1355725"/>
            <a:ext cx="5862637" cy="2360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Defining Performance</a:t>
            </a:r>
            <a:endParaRPr/>
          </a:p>
        </p:txBody>
      </p:sp>
      <p:sp>
        <p:nvSpPr>
          <p:cNvPr id="384" name="Google Shape;384;p40"/>
          <p:cNvSpPr txBox="1"/>
          <p:nvPr>
            <p:ph idx="1" type="body"/>
          </p:nvPr>
        </p:nvSpPr>
        <p:spPr>
          <a:xfrm>
            <a:off x="684212" y="1125537"/>
            <a:ext cx="8270875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airplane has the best performance?</a:t>
            </a:r>
            <a:endParaRPr/>
          </a:p>
        </p:txBody>
      </p:sp>
      <p:pic>
        <p:nvPicPr>
          <p:cNvPr id="385" name="Google Shape;3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839912"/>
            <a:ext cx="3167062" cy="2098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86" name="Google Shape;38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6100" y="1836737"/>
            <a:ext cx="3352800" cy="2098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87" name="Google Shape;387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" y="4065587"/>
            <a:ext cx="3167062" cy="2098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88" name="Google Shape;388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6100" y="4056062"/>
            <a:ext cx="3379787" cy="21097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89" name="Google Shape;389;p40"/>
          <p:cNvSpPr txBox="1"/>
          <p:nvPr/>
        </p:nvSpPr>
        <p:spPr>
          <a:xfrm rot="5400000">
            <a:off x="7951787" y="822325"/>
            <a:ext cx="2017712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§1.6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Response Time and Throughput</a:t>
            </a:r>
            <a:endParaRPr/>
          </a:p>
        </p:txBody>
      </p:sp>
      <p:sp>
        <p:nvSpPr>
          <p:cNvPr id="400" name="Google Shape;400;p4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long it takes to do a task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work done per unit time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tasks/transactions/… per hour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are response time and throughput affected by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Replacing the processor with a faster version?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more processors?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We’ll focus on response time for now…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Relative Performance</a:t>
            </a:r>
            <a:endParaRPr/>
          </a:p>
        </p:txBody>
      </p:sp>
      <p:sp>
        <p:nvSpPr>
          <p:cNvPr id="411" name="Google Shape;411;p42"/>
          <p:cNvSpPr txBox="1"/>
          <p:nvPr>
            <p:ph idx="1" type="body"/>
          </p:nvPr>
        </p:nvSpPr>
        <p:spPr>
          <a:xfrm>
            <a:off x="684212" y="1125537"/>
            <a:ext cx="8270875" cy="1223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Performance = 1/Execution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“X is </a:t>
            </a: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time faster than Y”</a:t>
            </a:r>
            <a:endParaRPr/>
          </a:p>
        </p:txBody>
      </p:sp>
      <p:pic>
        <p:nvPicPr>
          <p:cNvPr id="412" name="Google Shape;41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2" y="2420937"/>
            <a:ext cx="5765800" cy="100806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2"/>
          <p:cNvSpPr txBox="1"/>
          <p:nvPr/>
        </p:nvSpPr>
        <p:spPr>
          <a:xfrm>
            <a:off x="684212" y="3573462"/>
            <a:ext cx="8270875" cy="244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time taken to run a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10s on A, 15s on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Execution Time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Execution Time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15s / 10s = 1.5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A is 1.5 times faster than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Measuring Execution Time</a:t>
            </a:r>
            <a:endParaRPr/>
          </a:p>
        </p:txBody>
      </p:sp>
      <p:sp>
        <p:nvSpPr>
          <p:cNvPr id="424" name="Google Shape;424;p4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Elapsed time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response time, including all aspects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Processing, I/O, OS overhead, idle time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Determines system performance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time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spent processing a given job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Discounts I/O time, other jobs’ shares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Comprises user CPU time and system CPU time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programs are affected differently by CPU and system performance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44"/>
          <p:cNvCxnSpPr/>
          <p:nvPr/>
        </p:nvCxnSpPr>
        <p:spPr>
          <a:xfrm>
            <a:off x="2627312" y="2493962"/>
            <a:ext cx="17287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35" name="Google Shape;435;p44"/>
          <p:cNvCxnSpPr/>
          <p:nvPr/>
        </p:nvCxnSpPr>
        <p:spPr>
          <a:xfrm>
            <a:off x="2627312" y="2565400"/>
            <a:ext cx="0" cy="16557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44"/>
          <p:cNvCxnSpPr/>
          <p:nvPr/>
        </p:nvCxnSpPr>
        <p:spPr>
          <a:xfrm>
            <a:off x="4356100" y="2565400"/>
            <a:ext cx="0" cy="16557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7" name="Google Shape;437;p44"/>
          <p:cNvCxnSpPr/>
          <p:nvPr/>
        </p:nvCxnSpPr>
        <p:spPr>
          <a:xfrm>
            <a:off x="6083300" y="2565400"/>
            <a:ext cx="0" cy="16557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8" name="Google Shape;438;p44"/>
          <p:cNvCxnSpPr/>
          <p:nvPr/>
        </p:nvCxnSpPr>
        <p:spPr>
          <a:xfrm>
            <a:off x="7812087" y="2565400"/>
            <a:ext cx="0" cy="16557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9" name="Google Shape;439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Clocking</a:t>
            </a:r>
            <a:endParaRPr/>
          </a:p>
        </p:txBody>
      </p:sp>
      <p:sp>
        <p:nvSpPr>
          <p:cNvPr id="440" name="Google Shape;440;p44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 of digital hardware governed by a constant-rate clock</a:t>
            </a:r>
            <a:endParaRPr/>
          </a:p>
        </p:txBody>
      </p:sp>
      <p:cxnSp>
        <p:nvCxnSpPr>
          <p:cNvPr id="441" name="Google Shape;441;p44"/>
          <p:cNvCxnSpPr/>
          <p:nvPr/>
        </p:nvCxnSpPr>
        <p:spPr>
          <a:xfrm>
            <a:off x="2627312" y="2709862"/>
            <a:ext cx="86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2" name="Google Shape;442;p44"/>
          <p:cNvCxnSpPr/>
          <p:nvPr/>
        </p:nvCxnSpPr>
        <p:spPr>
          <a:xfrm>
            <a:off x="2627312" y="2709862"/>
            <a:ext cx="0" cy="2873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p44"/>
          <p:cNvCxnSpPr/>
          <p:nvPr/>
        </p:nvCxnSpPr>
        <p:spPr>
          <a:xfrm>
            <a:off x="3490912" y="2709862"/>
            <a:ext cx="0" cy="2873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44"/>
          <p:cNvCxnSpPr/>
          <p:nvPr/>
        </p:nvCxnSpPr>
        <p:spPr>
          <a:xfrm>
            <a:off x="3490912" y="2997200"/>
            <a:ext cx="86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5" name="Google Shape;445;p44"/>
          <p:cNvCxnSpPr/>
          <p:nvPr/>
        </p:nvCxnSpPr>
        <p:spPr>
          <a:xfrm>
            <a:off x="2339975" y="2997200"/>
            <a:ext cx="2873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44"/>
          <p:cNvCxnSpPr/>
          <p:nvPr/>
        </p:nvCxnSpPr>
        <p:spPr>
          <a:xfrm>
            <a:off x="4356100" y="2709862"/>
            <a:ext cx="86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44"/>
          <p:cNvCxnSpPr/>
          <p:nvPr/>
        </p:nvCxnSpPr>
        <p:spPr>
          <a:xfrm>
            <a:off x="4356100" y="2709862"/>
            <a:ext cx="0" cy="2873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44"/>
          <p:cNvCxnSpPr/>
          <p:nvPr/>
        </p:nvCxnSpPr>
        <p:spPr>
          <a:xfrm>
            <a:off x="5219700" y="2709862"/>
            <a:ext cx="0" cy="2873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" name="Google Shape;449;p44"/>
          <p:cNvCxnSpPr/>
          <p:nvPr/>
        </p:nvCxnSpPr>
        <p:spPr>
          <a:xfrm>
            <a:off x="5219700" y="2997200"/>
            <a:ext cx="86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44"/>
          <p:cNvCxnSpPr/>
          <p:nvPr/>
        </p:nvCxnSpPr>
        <p:spPr>
          <a:xfrm>
            <a:off x="6083300" y="2709862"/>
            <a:ext cx="86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44"/>
          <p:cNvCxnSpPr/>
          <p:nvPr/>
        </p:nvCxnSpPr>
        <p:spPr>
          <a:xfrm>
            <a:off x="6083300" y="2709862"/>
            <a:ext cx="0" cy="2873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2" name="Google Shape;452;p44"/>
          <p:cNvCxnSpPr/>
          <p:nvPr/>
        </p:nvCxnSpPr>
        <p:spPr>
          <a:xfrm>
            <a:off x="6946900" y="2709862"/>
            <a:ext cx="0" cy="2873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44"/>
          <p:cNvCxnSpPr/>
          <p:nvPr/>
        </p:nvCxnSpPr>
        <p:spPr>
          <a:xfrm>
            <a:off x="6946900" y="2997200"/>
            <a:ext cx="86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4" name="Google Shape;454;p44"/>
          <p:cNvCxnSpPr/>
          <p:nvPr/>
        </p:nvCxnSpPr>
        <p:spPr>
          <a:xfrm>
            <a:off x="7812087" y="2709862"/>
            <a:ext cx="0" cy="2873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44"/>
          <p:cNvCxnSpPr/>
          <p:nvPr/>
        </p:nvCxnSpPr>
        <p:spPr>
          <a:xfrm>
            <a:off x="7812087" y="2709862"/>
            <a:ext cx="2873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6" name="Google Shape;456;p44"/>
          <p:cNvSpPr/>
          <p:nvPr/>
        </p:nvSpPr>
        <p:spPr>
          <a:xfrm>
            <a:off x="4211637" y="3789362"/>
            <a:ext cx="288925" cy="287337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4"/>
          <p:cNvSpPr/>
          <p:nvPr/>
        </p:nvSpPr>
        <p:spPr>
          <a:xfrm>
            <a:off x="5940425" y="3789362"/>
            <a:ext cx="288925" cy="287337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4"/>
          <p:cNvSpPr/>
          <p:nvPr/>
        </p:nvSpPr>
        <p:spPr>
          <a:xfrm>
            <a:off x="7667625" y="3789362"/>
            <a:ext cx="288925" cy="287337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44"/>
          <p:cNvCxnSpPr/>
          <p:nvPr/>
        </p:nvCxnSpPr>
        <p:spPr>
          <a:xfrm>
            <a:off x="2339975" y="4221162"/>
            <a:ext cx="59039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0" name="Google Shape;460;p44"/>
          <p:cNvCxnSpPr/>
          <p:nvPr/>
        </p:nvCxnSpPr>
        <p:spPr>
          <a:xfrm rot="10800000">
            <a:off x="2339975" y="2565400"/>
            <a:ext cx="0" cy="16557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1" name="Google Shape;461;p44"/>
          <p:cNvSpPr txBox="1"/>
          <p:nvPr/>
        </p:nvSpPr>
        <p:spPr>
          <a:xfrm>
            <a:off x="684212" y="2714625"/>
            <a:ext cx="14478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Clock (cycles)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4"/>
          <p:cNvSpPr txBox="1"/>
          <p:nvPr/>
        </p:nvSpPr>
        <p:spPr>
          <a:xfrm>
            <a:off x="684212" y="3146425"/>
            <a:ext cx="16859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transfer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computation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4"/>
          <p:cNvSpPr txBox="1"/>
          <p:nvPr/>
        </p:nvSpPr>
        <p:spPr>
          <a:xfrm>
            <a:off x="684212" y="3794125"/>
            <a:ext cx="13366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4"/>
          <p:cNvSpPr txBox="1"/>
          <p:nvPr/>
        </p:nvSpPr>
        <p:spPr>
          <a:xfrm>
            <a:off x="2916237" y="2420937"/>
            <a:ext cx="1150937" cy="1444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4"/>
          <p:cNvSpPr txBox="1"/>
          <p:nvPr/>
        </p:nvSpPr>
        <p:spPr>
          <a:xfrm>
            <a:off x="2843212" y="2281237"/>
            <a:ext cx="1311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Clock period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4"/>
          <p:cNvSpPr txBox="1"/>
          <p:nvPr/>
        </p:nvSpPr>
        <p:spPr>
          <a:xfrm>
            <a:off x="1182687" y="4437062"/>
            <a:ext cx="7772400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Clock period: duration of a clock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250ps = 0.25ns = 250×10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Clock frequency (rate): cycles per second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4.0GHz = 4000MHz = 4.0×10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4"/>
          <p:cNvSpPr/>
          <p:nvPr/>
        </p:nvSpPr>
        <p:spPr>
          <a:xfrm>
            <a:off x="4356100" y="3284537"/>
            <a:ext cx="1727200" cy="287337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4"/>
          <p:cNvSpPr/>
          <p:nvPr/>
        </p:nvSpPr>
        <p:spPr>
          <a:xfrm>
            <a:off x="2627312" y="3284537"/>
            <a:ext cx="1727200" cy="287337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4"/>
          <p:cNvSpPr/>
          <p:nvPr/>
        </p:nvSpPr>
        <p:spPr>
          <a:xfrm>
            <a:off x="6083300" y="3284537"/>
            <a:ext cx="1727200" cy="287337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Time</a:t>
            </a:r>
            <a:endParaRPr/>
          </a:p>
        </p:txBody>
      </p:sp>
      <p:sp>
        <p:nvSpPr>
          <p:cNvPr id="480" name="Google Shape;480;p45"/>
          <p:cNvSpPr txBox="1"/>
          <p:nvPr>
            <p:ph idx="1" type="body"/>
          </p:nvPr>
        </p:nvSpPr>
        <p:spPr>
          <a:xfrm>
            <a:off x="684212" y="2968625"/>
            <a:ext cx="8270875" cy="3268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improved by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Reducing number of clock cycles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Increasing clock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designer must often trade off clock rate against cycle count</a:t>
            </a:r>
            <a:endParaRPr/>
          </a:p>
        </p:txBody>
      </p:sp>
      <p:pic>
        <p:nvPicPr>
          <p:cNvPr id="481" name="Google Shape;48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637" y="1428750"/>
            <a:ext cx="7459662" cy="145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Time Example</a:t>
            </a:r>
            <a:endParaRPr/>
          </a:p>
        </p:txBody>
      </p:sp>
      <p:sp>
        <p:nvSpPr>
          <p:cNvPr id="492" name="Google Shape;492;p46"/>
          <p:cNvSpPr txBox="1"/>
          <p:nvPr>
            <p:ph idx="1" type="body"/>
          </p:nvPr>
        </p:nvSpPr>
        <p:spPr>
          <a:xfrm>
            <a:off x="684212" y="1125537"/>
            <a:ext cx="8270875" cy="291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A: 2GHz clock, 10s CPU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Designing Computer 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 for 6s CPU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do faster clock, but causes 1.2 × clock cycles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fast must Computer B clock be?</a:t>
            </a:r>
            <a:endParaRPr/>
          </a:p>
        </p:txBody>
      </p:sp>
      <p:pic>
        <p:nvPicPr>
          <p:cNvPr id="493" name="Google Shape;49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175" y="3284537"/>
            <a:ext cx="7135812" cy="2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Count and CPI</a:t>
            </a:r>
            <a:endParaRPr/>
          </a:p>
        </p:txBody>
      </p:sp>
      <p:sp>
        <p:nvSpPr>
          <p:cNvPr id="504" name="Google Shape;504;p47"/>
          <p:cNvSpPr txBox="1"/>
          <p:nvPr>
            <p:ph idx="1" type="body"/>
          </p:nvPr>
        </p:nvSpPr>
        <p:spPr>
          <a:xfrm>
            <a:off x="1182687" y="3462337"/>
            <a:ext cx="7772400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 for a program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program, ISA and compiler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cycles per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different instructions have different CPI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CPI affected by instruction mix</a:t>
            </a:r>
            <a:endParaRPr/>
          </a:p>
        </p:txBody>
      </p:sp>
      <p:pic>
        <p:nvPicPr>
          <p:cNvPr id="505" name="Google Shape;50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437" y="1319212"/>
            <a:ext cx="8129587" cy="20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CPI Example</a:t>
            </a:r>
            <a:endParaRPr/>
          </a:p>
        </p:txBody>
      </p:sp>
      <p:sp>
        <p:nvSpPr>
          <p:cNvPr id="516" name="Google Shape;516;p48"/>
          <p:cNvSpPr txBox="1"/>
          <p:nvPr>
            <p:ph idx="1" type="body"/>
          </p:nvPr>
        </p:nvSpPr>
        <p:spPr>
          <a:xfrm>
            <a:off x="684212" y="1125537"/>
            <a:ext cx="8270875" cy="201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A: Cycle Time = 250ps, CPI = 2.0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B: Cycle Time = 500ps, CPI = 1.2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ISA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is faster, and by how much?</a:t>
            </a:r>
            <a:endParaRPr/>
          </a:p>
        </p:txBody>
      </p:sp>
      <p:pic>
        <p:nvPicPr>
          <p:cNvPr id="517" name="Google Shape;5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141662"/>
            <a:ext cx="7034212" cy="29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8"/>
          <p:cNvSpPr/>
          <p:nvPr/>
        </p:nvSpPr>
        <p:spPr>
          <a:xfrm>
            <a:off x="7164387" y="3717925"/>
            <a:ext cx="1722437" cy="3603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2446" y="-14405"/>
                </a:moveTo>
                <a:lnTo>
                  <a:pt x="8221" y="-1147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is faster…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8"/>
          <p:cNvSpPr/>
          <p:nvPr/>
        </p:nvSpPr>
        <p:spPr>
          <a:xfrm>
            <a:off x="7164387" y="5518150"/>
            <a:ext cx="1722437" cy="3603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5824" y="-33541"/>
                </a:moveTo>
                <a:lnTo>
                  <a:pt x="8221" y="-1147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…by this much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CPI in More Detail</a:t>
            </a:r>
            <a:endParaRPr/>
          </a:p>
        </p:txBody>
      </p:sp>
      <p:sp>
        <p:nvSpPr>
          <p:cNvPr id="530" name="Google Shape;530;p49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different instruction classes take different numbers of cycles</a:t>
            </a:r>
            <a:endParaRPr/>
          </a:p>
        </p:txBody>
      </p:sp>
      <p:pic>
        <p:nvPicPr>
          <p:cNvPr id="531" name="Google Shape;53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6687" y="2420937"/>
            <a:ext cx="6427787" cy="9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9"/>
          <p:cNvSpPr txBox="1"/>
          <p:nvPr/>
        </p:nvSpPr>
        <p:spPr>
          <a:xfrm>
            <a:off x="1182687" y="3573462"/>
            <a:ext cx="7772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average CPI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3" name="Google Shape;53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962" y="4292600"/>
            <a:ext cx="8105775" cy="9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9"/>
          <p:cNvSpPr/>
          <p:nvPr/>
        </p:nvSpPr>
        <p:spPr>
          <a:xfrm rot="5400000">
            <a:off x="6947693" y="4293393"/>
            <a:ext cx="215900" cy="237648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9"/>
          <p:cNvSpPr txBox="1"/>
          <p:nvPr/>
        </p:nvSpPr>
        <p:spPr>
          <a:xfrm>
            <a:off x="5994400" y="5649912"/>
            <a:ext cx="20859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frequency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CPI Example</a:t>
            </a:r>
            <a:endParaRPr/>
          </a:p>
        </p:txBody>
      </p:sp>
      <p:sp>
        <p:nvSpPr>
          <p:cNvPr id="546" name="Google Shape;546;p50"/>
          <p:cNvSpPr txBox="1"/>
          <p:nvPr>
            <p:ph idx="1" type="body"/>
          </p:nvPr>
        </p:nvSpPr>
        <p:spPr>
          <a:xfrm>
            <a:off x="684212" y="1125537"/>
            <a:ext cx="827087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 compiled code sequences using instructions in classes A, B, C</a:t>
            </a:r>
            <a:endParaRPr/>
          </a:p>
        </p:txBody>
      </p:sp>
      <p:graphicFrame>
        <p:nvGraphicFramePr>
          <p:cNvPr id="547" name="Google Shape;547;p50"/>
          <p:cNvGraphicFramePr/>
          <p:nvPr/>
        </p:nvGraphicFramePr>
        <p:xfrm>
          <a:off x="1619250" y="227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{E7A6D442-C0C2-4369-8A4D-787DF8521776}</a:tableStyleId>
              </a:tblPr>
              <a:tblGrid>
                <a:gridCol w="2520950"/>
                <a:gridCol w="1368425"/>
                <a:gridCol w="1368425"/>
                <a:gridCol w="1343025"/>
              </a:tblGrid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CPI for class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 in sequence 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 in sequence 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8" name="Google Shape;548;p50"/>
          <p:cNvSpPr txBox="1"/>
          <p:nvPr/>
        </p:nvSpPr>
        <p:spPr>
          <a:xfrm>
            <a:off x="539750" y="4076700"/>
            <a:ext cx="3887787" cy="208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1: IC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Clock Cycles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2×1 + 1×2 + 2×3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Avg. CPI = 10/5 = 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0"/>
          <p:cNvSpPr txBox="1"/>
          <p:nvPr/>
        </p:nvSpPr>
        <p:spPr>
          <a:xfrm>
            <a:off x="4787900" y="4076700"/>
            <a:ext cx="3887787" cy="208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2: IC =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Clock Cycles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4×1 + 1×2 + 1×3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Avg. CPI = 9/6 = 1.5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Summary</a:t>
            </a:r>
            <a:endParaRPr/>
          </a:p>
        </p:txBody>
      </p:sp>
      <p:sp>
        <p:nvSpPr>
          <p:cNvPr id="560" name="Google Shape;560;p51"/>
          <p:cNvSpPr txBox="1"/>
          <p:nvPr>
            <p:ph idx="1" type="body"/>
          </p:nvPr>
        </p:nvSpPr>
        <p:spPr>
          <a:xfrm>
            <a:off x="684212" y="3284537"/>
            <a:ext cx="8270875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depends 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Algorithm: affects IC, possibly CPI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language: affects IC, CPI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Compiler: affects IC, CPI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architecture: affects IC, CPI, T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561" name="Google Shape;561;p51"/>
          <p:cNvSpPr txBox="1"/>
          <p:nvPr/>
        </p:nvSpPr>
        <p:spPr>
          <a:xfrm>
            <a:off x="684212" y="1258887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2060575"/>
            <a:ext cx="7848600" cy="92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Power Trends</a:t>
            </a:r>
            <a:endParaRPr/>
          </a:p>
        </p:txBody>
      </p:sp>
      <p:sp>
        <p:nvSpPr>
          <p:cNvPr id="573" name="Google Shape;573;p52"/>
          <p:cNvSpPr txBox="1"/>
          <p:nvPr>
            <p:ph idx="1" type="body"/>
          </p:nvPr>
        </p:nvSpPr>
        <p:spPr>
          <a:xfrm>
            <a:off x="684212" y="4149725"/>
            <a:ext cx="8270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CMOS IC technology</a:t>
            </a:r>
            <a:endParaRPr/>
          </a:p>
        </p:txBody>
      </p:sp>
      <p:sp>
        <p:nvSpPr>
          <p:cNvPr id="574" name="Google Shape;574;p52"/>
          <p:cNvSpPr txBox="1"/>
          <p:nvPr/>
        </p:nvSpPr>
        <p:spPr>
          <a:xfrm rot="5400000">
            <a:off x="7804150" y="974725"/>
            <a:ext cx="2312987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§1.7 The Power Wall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4941887"/>
            <a:ext cx="70818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2"/>
          <p:cNvSpPr/>
          <p:nvPr/>
        </p:nvSpPr>
        <p:spPr>
          <a:xfrm>
            <a:off x="7740650" y="5805487"/>
            <a:ext cx="1003300" cy="403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1634" y="-6480"/>
                </a:moveTo>
                <a:lnTo>
                  <a:pt x="7348" y="-196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2"/>
          <p:cNvSpPr/>
          <p:nvPr/>
        </p:nvSpPr>
        <p:spPr>
          <a:xfrm>
            <a:off x="2051050" y="5805487"/>
            <a:ext cx="1003300" cy="403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1838" y="-7588"/>
                </a:moveTo>
                <a:lnTo>
                  <a:pt x="7348" y="-196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2"/>
          <p:cNvSpPr/>
          <p:nvPr/>
        </p:nvSpPr>
        <p:spPr>
          <a:xfrm>
            <a:off x="5867400" y="5805487"/>
            <a:ext cx="1223962" cy="403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1124" y="-7194"/>
                </a:moveTo>
                <a:lnTo>
                  <a:pt x="7348" y="-161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5V → 1V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9" name="Google Shape;57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012" y="1268412"/>
            <a:ext cx="6905625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Reducing Power</a:t>
            </a:r>
            <a:endParaRPr/>
          </a:p>
        </p:txBody>
      </p:sp>
      <p:sp>
        <p:nvSpPr>
          <p:cNvPr id="590" name="Google Shape;590;p53"/>
          <p:cNvSpPr txBox="1"/>
          <p:nvPr>
            <p:ph idx="1" type="body"/>
          </p:nvPr>
        </p:nvSpPr>
        <p:spPr>
          <a:xfrm>
            <a:off x="684212" y="1125537"/>
            <a:ext cx="8270875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a new CPU has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85% of capacitive load of old CPU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15% voltage and 15% frequency reduction</a:t>
            </a:r>
            <a:endParaRPr/>
          </a:p>
        </p:txBody>
      </p:sp>
      <p:pic>
        <p:nvPicPr>
          <p:cNvPr id="591" name="Google Shape;59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2924175"/>
            <a:ext cx="7561262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3"/>
          <p:cNvSpPr txBox="1"/>
          <p:nvPr/>
        </p:nvSpPr>
        <p:spPr>
          <a:xfrm>
            <a:off x="684212" y="3933825"/>
            <a:ext cx="8270875" cy="2160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power wall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can’t reduce voltage further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can’t remove more heat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else can we improve performance?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Uniprocessor Performance</a:t>
            </a:r>
            <a:endParaRPr/>
          </a:p>
        </p:txBody>
      </p:sp>
      <p:sp>
        <p:nvSpPr>
          <p:cNvPr id="603" name="Google Shape;603;p54"/>
          <p:cNvSpPr txBox="1"/>
          <p:nvPr/>
        </p:nvSpPr>
        <p:spPr>
          <a:xfrm rot="5400000">
            <a:off x="6163468" y="2613818"/>
            <a:ext cx="5594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§1.8 The Sea Change: The Switch to Multiprocessors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4" name="Google Shape;6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077912"/>
            <a:ext cx="7632700" cy="4375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4"/>
          <p:cNvSpPr/>
          <p:nvPr/>
        </p:nvSpPr>
        <p:spPr>
          <a:xfrm>
            <a:off x="1116012" y="5516562"/>
            <a:ext cx="5400675" cy="6492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Constrained by power, instruction-level parallelism, memory latency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Multiprocessors</a:t>
            </a:r>
            <a:endParaRPr/>
          </a:p>
        </p:txBody>
      </p:sp>
      <p:sp>
        <p:nvSpPr>
          <p:cNvPr id="616" name="Google Shape;616;p5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Multicore microprocessors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than one processor per chip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explicitly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parallel programming</a:t>
            </a:r>
            <a:endParaRPr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with instruction level parallelism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executes multiple instructions at once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from the programmer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to do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for performance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balancing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Optimizing communication and synchronization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 CPU Benchmark</a:t>
            </a:r>
            <a:endParaRPr/>
          </a:p>
        </p:txBody>
      </p:sp>
      <p:sp>
        <p:nvSpPr>
          <p:cNvPr id="627" name="Google Shape;627;p56"/>
          <p:cNvSpPr txBox="1"/>
          <p:nvPr>
            <p:ph idx="1" type="body"/>
          </p:nvPr>
        </p:nvSpPr>
        <p:spPr>
          <a:xfrm>
            <a:off x="684212" y="1125537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used to measure performance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Supposedly typical of actual workload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 Performance Evaluation Corp (SPEC)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Develops benchmarks for CPU, I/O, Web, …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 CPU2006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Elapsed time to execute a selection of programs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Negligible I/O, so focuses on CPU performance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relative to reference machine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Summarize as geometric mean of performance ratios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CINT2006 (integer) and CFP2006 (floating-point)</a:t>
            </a:r>
            <a:endParaRPr/>
          </a:p>
        </p:txBody>
      </p:sp>
      <p:pic>
        <p:nvPicPr>
          <p:cNvPr id="628" name="Google Shape;62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5157787"/>
            <a:ext cx="3771900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7"/>
          <p:cNvSpPr txBox="1"/>
          <p:nvPr>
            <p:ph type="title"/>
          </p:nvPr>
        </p:nvSpPr>
        <p:spPr>
          <a:xfrm>
            <a:off x="684212" y="206375"/>
            <a:ext cx="82597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CINT2006 for Intel Core i7 920</a:t>
            </a:r>
            <a:endParaRPr/>
          </a:p>
        </p:txBody>
      </p:sp>
      <p:pic>
        <p:nvPicPr>
          <p:cNvPr id="639" name="Google Shape;63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196975"/>
            <a:ext cx="830580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Pitfall: Amdahl’s Law</a:t>
            </a:r>
            <a:endParaRPr/>
          </a:p>
        </p:txBody>
      </p:sp>
      <p:sp>
        <p:nvSpPr>
          <p:cNvPr id="650" name="Google Shape;650;p58"/>
          <p:cNvSpPr txBox="1"/>
          <p:nvPr>
            <p:ph idx="1" type="body"/>
          </p:nvPr>
        </p:nvSpPr>
        <p:spPr>
          <a:xfrm>
            <a:off x="684212" y="1125537"/>
            <a:ext cx="799147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Improving an aspect of a computer and expecting a proportional improvement in overall performance</a:t>
            </a:r>
            <a:endParaRPr/>
          </a:p>
        </p:txBody>
      </p:sp>
      <p:sp>
        <p:nvSpPr>
          <p:cNvPr id="651" name="Google Shape;651;p58"/>
          <p:cNvSpPr txBox="1"/>
          <p:nvPr/>
        </p:nvSpPr>
        <p:spPr>
          <a:xfrm rot="5400000">
            <a:off x="7496175" y="1279525"/>
            <a:ext cx="2928937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§1.10 Fallacies and Pitfalls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2" name="Google Shape;65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675" y="4868862"/>
            <a:ext cx="1728787" cy="788987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8"/>
          <p:cNvSpPr txBox="1"/>
          <p:nvPr/>
        </p:nvSpPr>
        <p:spPr>
          <a:xfrm>
            <a:off x="4787900" y="4941887"/>
            <a:ext cx="34559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be done!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4" name="Google Shape;65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3712" y="2565400"/>
            <a:ext cx="5287962" cy="839787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8"/>
          <p:cNvSpPr txBox="1"/>
          <p:nvPr/>
        </p:nvSpPr>
        <p:spPr>
          <a:xfrm>
            <a:off x="684212" y="3500437"/>
            <a:ext cx="7991475" cy="136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multiply accounts for 80s/100s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much improvement in multiply performance to get 5× overall?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8"/>
          <p:cNvSpPr txBox="1"/>
          <p:nvPr/>
        </p:nvSpPr>
        <p:spPr>
          <a:xfrm>
            <a:off x="684212" y="5661025"/>
            <a:ext cx="79914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Corollary: make the common case fast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Fallacy: Low Power at Idle</a:t>
            </a:r>
            <a:endParaRPr/>
          </a:p>
        </p:txBody>
      </p:sp>
      <p:sp>
        <p:nvSpPr>
          <p:cNvPr id="667" name="Google Shape;667;p5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back at i7 power benchmark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100% load: 258W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50% load: 170W (66%)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10% load: 121W (47%)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data center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Mostly operates at 10% – 50% load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100% load less than 1% of the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designing processors to make power proportional to load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60"/>
          <p:cNvSpPr txBox="1"/>
          <p:nvPr>
            <p:ph type="title"/>
          </p:nvPr>
        </p:nvSpPr>
        <p:spPr>
          <a:xfrm>
            <a:off x="684212" y="266700"/>
            <a:ext cx="82597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Pitfall: MIPS as a Performance Metric</a:t>
            </a:r>
            <a:endParaRPr/>
          </a:p>
        </p:txBody>
      </p:sp>
      <p:sp>
        <p:nvSpPr>
          <p:cNvPr id="678" name="Google Shape;678;p60"/>
          <p:cNvSpPr txBox="1"/>
          <p:nvPr>
            <p:ph idx="1" type="body"/>
          </p:nvPr>
        </p:nvSpPr>
        <p:spPr>
          <a:xfrm>
            <a:off x="684212" y="1125537"/>
            <a:ext cx="8270875" cy="208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MIPS: Millions of Instructions Per Second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Doesn’t account for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Differences in ISAs between computers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Differences in complexity between instructions</a:t>
            </a:r>
            <a:endParaRPr/>
          </a:p>
        </p:txBody>
      </p:sp>
      <p:pic>
        <p:nvPicPr>
          <p:cNvPr id="679" name="Google Shape;67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360737"/>
            <a:ext cx="6556375" cy="2084387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0"/>
          <p:cNvSpPr txBox="1"/>
          <p:nvPr/>
        </p:nvSpPr>
        <p:spPr>
          <a:xfrm>
            <a:off x="684212" y="5589587"/>
            <a:ext cx="827087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varies between programs on a given 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691" name="Google Shape;691;p6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Cost/performance is improving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to underlying technology development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layers of abstraction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both hardware and software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architecture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hardware/software interface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Execution time: the best performance measure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is a limiting factor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parallelism to improve performance</a:t>
            </a:r>
            <a:endParaRPr/>
          </a:p>
        </p:txBody>
      </p:sp>
      <p:sp>
        <p:nvSpPr>
          <p:cNvPr id="692" name="Google Shape;692;p61"/>
          <p:cNvSpPr txBox="1"/>
          <p:nvPr/>
        </p:nvSpPr>
        <p:spPr>
          <a:xfrm rot="5400000">
            <a:off x="7489825" y="1290637"/>
            <a:ext cx="2949575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§1.11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Blends">
  <a:themeElements>
    <a:clrScheme name="2_Blends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Blends">
  <a:themeElements>
    <a:clrScheme name="2_Blends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