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7099300" cy="10234600"/>
  <p:embeddedFontLst>
    <p:embeddedFont>
      <p:font typeface="Corbel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rbel-italic.fntdata"/><Relationship Id="rId12" Type="http://schemas.openxmlformats.org/officeDocument/2006/relationships/slide" Target="slides/slide6.xml"/><Relationship Id="rId34" Type="http://schemas.openxmlformats.org/officeDocument/2006/relationships/font" Target="fonts/Corbel-bold.fntdata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7350" y="92075"/>
            <a:ext cx="935037" cy="935037"/>
            <a:chOff x="8007350" y="92075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7350" y="92075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0050" y="293688"/>
              <a:ext cx="909638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5300" y="492125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3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for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for Computers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and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Dealing with overflow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real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and operations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3-01-P37449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844675"/>
            <a:ext cx="6938962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Addition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84212" y="1125537"/>
            <a:ext cx="827087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+ 6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rot="5400000">
            <a:off x="7369968" y="1407318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§3.2 Addition and 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84212" y="3644900"/>
            <a:ext cx="77724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+ve and –ve operands, no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+ve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–ve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Subtraction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negation of second operand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– 6 = 7 + (–6)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+7:	0000 0000 … 0000 0111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–6:	1111 1111 … 1111 1010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+1:	0000 0000 … 0000 0001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two +ve or two –ve operands, no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+ve from –ve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–ve from +ve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684212" y="1125537"/>
            <a:ext cx="82708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long-multiplication approach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1808162" y="2349500"/>
            <a:ext cx="1428750" cy="2381250"/>
            <a:chOff x="703" y="1616"/>
            <a:chExt cx="900" cy="1500"/>
          </a:xfrm>
        </p:grpSpPr>
        <p:sp>
          <p:nvSpPr>
            <p:cNvPr id="138" name="Google Shape;138;p18"/>
            <p:cNvSpPr txBox="1"/>
            <p:nvPr/>
          </p:nvSpPr>
          <p:spPr>
            <a:xfrm>
              <a:off x="703" y="1616"/>
              <a:ext cx="900" cy="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×  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0000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0000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 rot="10800000">
              <a:off x="703" y="2024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 rot="10800000">
              <a:off x="703" y="279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8"/>
          <p:cNvSpPr txBox="1"/>
          <p:nvPr/>
        </p:nvSpPr>
        <p:spPr>
          <a:xfrm>
            <a:off x="682625" y="4803775"/>
            <a:ext cx="2305050" cy="925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product is the sum of operand lengths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79387" y="209073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1528" y="37552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9387" y="2565400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945" y="38009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9387" y="4149725"/>
            <a:ext cx="1150937" cy="358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139" y="37468"/>
                </a:moveTo>
                <a:lnTo>
                  <a:pt x="8257" y="2763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 rot="5400000">
            <a:off x="7954168" y="823118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§3.3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12" y="2276475"/>
            <a:ext cx="5197475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Hardware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56325" y="558958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490" y="-10459"/>
                </a:moveTo>
                <a:lnTo>
                  <a:pt x="8972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Initially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" y="1438275"/>
            <a:ext cx="3484562" cy="471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275" y="2060575"/>
            <a:ext cx="5199062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Optimized Multiplier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steps in parallel: add/shift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84212" y="5013325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cycle per partial-product 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ok, if frequency of multiplications is 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992312"/>
            <a:ext cx="5616575" cy="286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Multiplication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multiply instructions: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mul:  multiply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lower 64 bits of the product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mulh:  multiply high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mulhu:  multiply high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mulhsu:  multiply high signed/unsigned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one operand is signed and the other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mulh result to check for 64-bit overflow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Representation for non-integral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Including very small and very large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Like scientific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–2.34 × 10</a:t>
            </a:r>
            <a:r>
              <a:rPr baseline="30000" i="0" lang="en-US" sz="2800" u="none">
                <a:solidFill>
                  <a:schemeClr val="dk1"/>
                </a:solidFill>
              </a:rPr>
              <a:t>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+0.002 × 10</a:t>
            </a:r>
            <a:r>
              <a:rPr baseline="30000" i="0" lang="en-US" sz="2800" u="none">
                <a:solidFill>
                  <a:schemeClr val="dk1"/>
                </a:solidFill>
              </a:rPr>
              <a:t>–4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+987.02 × 10</a:t>
            </a:r>
            <a:r>
              <a:rPr baseline="30000" i="0" lang="en-US" sz="2800" u="none">
                <a:solidFill>
                  <a:schemeClr val="dk1"/>
                </a:solidFill>
              </a:rPr>
              <a:t>9</a:t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±1.</a:t>
            </a:r>
            <a:r>
              <a:rPr i="1" lang="en-US" sz="2800" u="none">
                <a:solidFill>
                  <a:schemeClr val="dk1"/>
                </a:solidFill>
              </a:rPr>
              <a:t>xxxxxxx</a:t>
            </a:r>
            <a:r>
              <a:rPr baseline="-25000" i="0" lang="en-US" sz="2800" u="none">
                <a:solidFill>
                  <a:schemeClr val="dk1"/>
                </a:solidFill>
              </a:rPr>
              <a:t>2</a:t>
            </a:r>
            <a:r>
              <a:rPr i="0" lang="en-US" sz="2800" u="none">
                <a:solidFill>
                  <a:schemeClr val="dk1"/>
                </a:solidFill>
              </a:rPr>
              <a:t> × 2</a:t>
            </a:r>
            <a:r>
              <a:rPr baseline="30000" i="1" lang="en-US" sz="2800" u="none">
                <a:solidFill>
                  <a:schemeClr val="dk1"/>
                </a:solidFill>
              </a:rPr>
              <a:t>yyyy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Types float and double in C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219700" y="2924175"/>
            <a:ext cx="1508125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376" y="-23600"/>
                </a:moveTo>
                <a:lnTo>
                  <a:pt x="7376" y="-130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651500" y="3573462"/>
            <a:ext cx="1944687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14" y="-22619"/>
                </a:moveTo>
                <a:lnTo>
                  <a:pt x="7376" y="-101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2"/>
          <p:cNvCxnSpPr/>
          <p:nvPr/>
        </p:nvCxnSpPr>
        <p:spPr>
          <a:xfrm flipH="1">
            <a:off x="4067175" y="3790950"/>
            <a:ext cx="1512887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 rot="5400000">
            <a:off x="7916068" y="861218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§3.5 Floating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 Standard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IEEE Std 754-1985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in response to divergence of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 issues for scientific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almost universally adopted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precision (32-bit)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precision (64-bit)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Floating-Point Format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684212" y="3573462"/>
            <a:ext cx="8270875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sign bit (0 ⇒ non-negative, 1 ⇒ negative)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significand: 1.0 ≤ |significand| &lt; 2.0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Significand is Fraction with the “1.” restored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excess representation: actual exponent + Bias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494087" y="1917700"/>
            <a:ext cx="3671887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71597" y="1196975"/>
            <a:ext cx="232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427519" y="1196975"/>
            <a:ext cx="27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667000"/>
            <a:ext cx="5867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Single-Precision Range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00000000 and 11111111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127 = –126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–126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254 – 127 = +127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+127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±3.4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Double-Precision Range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0000…00 and 1111…11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1023 = –1022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–1022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±2.2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–308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2046 – 1023 = +1023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+1023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±1.8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Precision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fraction bits are significant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23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23 × 0.3 ≈ 6 decimal digits of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52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52 × 0.3 ≈ 16 decimal digits of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–0.75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–0.75 = (–1)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–1 + Bias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–1 + 127 = 126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–1 + 1023 = 1022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number is represented by the single-precision float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Fxponent = </a:t>
            </a:r>
            <a:r>
              <a:rPr b="0" i="0" lang="en-US" sz="2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(–1)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(1 + 01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× 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(129 – 127)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(–1) × 1.25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–5.0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Infinities and NaNs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=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±Infinity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calculations, avoiding need for overflow check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≠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Not-a-Number (NaN)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illegal or undefined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0.0 /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03" name="Google Shape;303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+ 1.610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decimal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10.015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14" name="Google Shape;314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–1.110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+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binary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0.001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 = 0.0625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9.200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biased exponents, subtract bias from 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exponent = 10 + –5 = 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9.200 = 10.212  ⇒  10.212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baseline="3000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 of result from signs of operands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36" name="Google Shape;336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×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Unbiased: –1 + –2 = –3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Biased: (–1 + 127) + (–2 + 127) = –3 + 254 – 127 = –3 + 127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1.1102  ⇒ 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sign: +ve × –ve ⇒ –ve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–0.21875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Arithmetic Hardware</a:t>
            </a:r>
            <a:endParaRPr/>
          </a:p>
        </p:txBody>
      </p:sp>
      <p:sp>
        <p:nvSpPr>
          <p:cNvPr id="347" name="Google Shape;347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multiplier is of similar complexity to FP adder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uses a multiplier for significands instead of an adder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arithmetic hardware usually does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subtraction, multiplication, division, reciprocal, square-root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↔ integer conversion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usually takes several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pipelined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Separate FP registers: f0, …, f31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double-precision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single-precision values stored in the lower 32 bits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instructions operate only on FP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Programs generally don’t do integer ops on FP data, or vice versa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More registers with minimal code-size impact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load and store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flw, fld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fsw, fsd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fadd.s, fsub.s, fmul.s, fdiv.s, fsqrt.s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fadds.s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Double-precision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fadd.d, fsub.d, fmul.d, fdiv.d, fsqrt.d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fadd.d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 and double-precision comparison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feq.s, flt.s, fle.s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feq.d, flt.d, fle.d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Result is 0 or 1 in integer destination register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Use beq, bne to branch on comparison result</a:t>
            </a:r>
            <a:endParaRPr/>
          </a:p>
          <a:p>
            <a:pPr indent="-1651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i="0" sz="20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on FP condition code true or false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B.cond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80" name="Google Shape;380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have no inherent meaning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 depends on the instructions applied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representations of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account for this in programs</a:t>
            </a:r>
            <a:endParaRPr/>
          </a:p>
        </p:txBody>
      </p:sp>
      <p:sp>
        <p:nvSpPr>
          <p:cNvPr id="381" name="Google Shape;381;p38"/>
          <p:cNvSpPr txBox="1"/>
          <p:nvPr/>
        </p:nvSpPr>
        <p:spPr>
          <a:xfrm rot="5400000">
            <a:off x="7481093" y="1299368"/>
            <a:ext cx="2967037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§3.10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92" name="Google Shape;392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ISAs support arithmetic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and unsigned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approximation to reals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Bounded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can overflow and underflow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